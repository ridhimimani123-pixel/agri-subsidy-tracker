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6" r:id="rId6"/>
    <p:sldId id="260" r:id="rId7"/>
    <p:sldId id="267" r:id="rId8"/>
    <p:sldId id="261" r:id="rId9"/>
    <p:sldId id="263" r:id="rId10"/>
    <p:sldId id="268"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DD298-B361-2522-8F5D-68B55ED3036D}" v="245" dt="2025-12-04T21:12:19.392"/>
    <p1510:client id="{CE88DC8E-CC5A-41E3-89C3-1A324C9327E3}" v="187" dt="2025-12-04T19:39:24.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737DD298-B361-2522-8F5D-68B55ED3036D}"/>
    <pc:docChg chg="addSld modSld sldOrd">
      <pc:chgData name="Guest User" userId="" providerId="Windows Live" clId="Web-{737DD298-B361-2522-8F5D-68B55ED3036D}" dt="2025-12-04T21:12:19.002" v="224" actId="20577"/>
      <pc:docMkLst>
        <pc:docMk/>
      </pc:docMkLst>
      <pc:sldChg chg="modSp">
        <pc:chgData name="Guest User" userId="" providerId="Windows Live" clId="Web-{737DD298-B361-2522-8F5D-68B55ED3036D}" dt="2025-12-04T21:12:19.002" v="224" actId="20577"/>
        <pc:sldMkLst>
          <pc:docMk/>
          <pc:sldMk cId="3107686540" sldId="256"/>
        </pc:sldMkLst>
        <pc:spChg chg="mod">
          <ac:chgData name="Guest User" userId="" providerId="Windows Live" clId="Web-{737DD298-B361-2522-8F5D-68B55ED3036D}" dt="2025-12-04T21:10:46.154" v="138" actId="20577"/>
          <ac:spMkLst>
            <pc:docMk/>
            <pc:sldMk cId="3107686540" sldId="256"/>
            <ac:spMk id="2" creationId="{B4259612-7AE2-27E2-C33A-A73383CFCB7E}"/>
          </ac:spMkLst>
        </pc:spChg>
        <pc:spChg chg="mod">
          <ac:chgData name="Guest User" userId="" providerId="Windows Live" clId="Web-{737DD298-B361-2522-8F5D-68B55ED3036D}" dt="2025-12-04T21:12:19.002" v="224" actId="20577"/>
          <ac:spMkLst>
            <pc:docMk/>
            <pc:sldMk cId="3107686540" sldId="256"/>
            <ac:spMk id="3" creationId="{14FFCA5A-0F2F-79F8-C0C2-E15F754EC2FE}"/>
          </ac:spMkLst>
        </pc:spChg>
      </pc:sldChg>
      <pc:sldChg chg="ord">
        <pc:chgData name="Guest User" userId="" providerId="Windows Live" clId="Web-{737DD298-B361-2522-8F5D-68B55ED3036D}" dt="2025-12-04T19:49:18.048" v="62"/>
        <pc:sldMkLst>
          <pc:docMk/>
          <pc:sldMk cId="1144064885" sldId="258"/>
        </pc:sldMkLst>
      </pc:sldChg>
      <pc:sldChg chg="ord">
        <pc:chgData name="Guest User" userId="" providerId="Windows Live" clId="Web-{737DD298-B361-2522-8F5D-68B55ED3036D}" dt="2025-12-04T19:49:22.641" v="63"/>
        <pc:sldMkLst>
          <pc:docMk/>
          <pc:sldMk cId="500425201" sldId="259"/>
        </pc:sldMkLst>
      </pc:sldChg>
      <pc:sldChg chg="modSp">
        <pc:chgData name="Guest User" userId="" providerId="Windows Live" clId="Web-{737DD298-B361-2522-8F5D-68B55ED3036D}" dt="2025-12-04T19:39:46.815" v="61" actId="20577"/>
        <pc:sldMkLst>
          <pc:docMk/>
          <pc:sldMk cId="3493927271" sldId="260"/>
        </pc:sldMkLst>
        <pc:spChg chg="mod">
          <ac:chgData name="Guest User" userId="" providerId="Windows Live" clId="Web-{737DD298-B361-2522-8F5D-68B55ED3036D}" dt="2025-12-04T19:39:46.815" v="61" actId="20577"/>
          <ac:spMkLst>
            <pc:docMk/>
            <pc:sldMk cId="3493927271" sldId="260"/>
            <ac:spMk id="3" creationId="{B23C9DB1-EDA2-1345-AD0F-495861D3891C}"/>
          </ac:spMkLst>
        </pc:spChg>
      </pc:sldChg>
      <pc:sldChg chg="modSp ord">
        <pc:chgData name="Guest User" userId="" providerId="Windows Live" clId="Web-{737DD298-B361-2522-8F5D-68B55ED3036D}" dt="2025-12-04T19:52:25.663" v="99" actId="20577"/>
        <pc:sldMkLst>
          <pc:docMk/>
          <pc:sldMk cId="973827534" sldId="261"/>
        </pc:sldMkLst>
        <pc:spChg chg="mod">
          <ac:chgData name="Guest User" userId="" providerId="Windows Live" clId="Web-{737DD298-B361-2522-8F5D-68B55ED3036D}" dt="2025-12-04T19:52:25.663" v="99" actId="20577"/>
          <ac:spMkLst>
            <pc:docMk/>
            <pc:sldMk cId="973827534" sldId="261"/>
            <ac:spMk id="3" creationId="{4B35DA2D-CD18-2532-459A-A6273727421A}"/>
          </ac:spMkLst>
        </pc:spChg>
      </pc:sldChg>
      <pc:sldChg chg="modSp ord">
        <pc:chgData name="Guest User" userId="" providerId="Windows Live" clId="Web-{737DD298-B361-2522-8F5D-68B55ED3036D}" dt="2025-12-04T21:05:12.190" v="127" actId="20577"/>
        <pc:sldMkLst>
          <pc:docMk/>
          <pc:sldMk cId="3755587888" sldId="263"/>
        </pc:sldMkLst>
        <pc:spChg chg="mod">
          <ac:chgData name="Guest User" userId="" providerId="Windows Live" clId="Web-{737DD298-B361-2522-8F5D-68B55ED3036D}" dt="2025-12-04T21:05:12.190" v="127" actId="20577"/>
          <ac:spMkLst>
            <pc:docMk/>
            <pc:sldMk cId="3755587888" sldId="263"/>
            <ac:spMk id="3" creationId="{24C91DF0-89E9-76B9-AD6A-DB306A119394}"/>
          </ac:spMkLst>
        </pc:spChg>
        <pc:spChg chg="mod">
          <ac:chgData name="Guest User" userId="" providerId="Windows Live" clId="Web-{737DD298-B361-2522-8F5D-68B55ED3036D}" dt="2025-12-04T19:57:55.225" v="103" actId="1076"/>
          <ac:spMkLst>
            <pc:docMk/>
            <pc:sldMk cId="3755587888" sldId="263"/>
            <ac:spMk id="4" creationId="{0E3562F1-842D-8BCE-F1A6-124D3C7CD3F7}"/>
          </ac:spMkLst>
        </pc:spChg>
      </pc:sldChg>
      <pc:sldChg chg="modSp ord">
        <pc:chgData name="Guest User" userId="" providerId="Windows Live" clId="Web-{737DD298-B361-2522-8F5D-68B55ED3036D}" dt="2025-12-04T20:01:41.809" v="119" actId="20577"/>
        <pc:sldMkLst>
          <pc:docMk/>
          <pc:sldMk cId="2714960057" sldId="264"/>
        </pc:sldMkLst>
        <pc:spChg chg="mod">
          <ac:chgData name="Guest User" userId="" providerId="Windows Live" clId="Web-{737DD298-B361-2522-8F5D-68B55ED3036D}" dt="2025-12-04T20:01:41.809" v="119" actId="20577"/>
          <ac:spMkLst>
            <pc:docMk/>
            <pc:sldMk cId="2714960057" sldId="264"/>
            <ac:spMk id="3" creationId="{74497A97-2B9D-9814-8CD8-A39480F6EF2B}"/>
          </ac:spMkLst>
        </pc:spChg>
      </pc:sldChg>
      <pc:sldChg chg="ord">
        <pc:chgData name="Guest User" userId="" providerId="Windows Live" clId="Web-{737DD298-B361-2522-8F5D-68B55ED3036D}" dt="2025-12-04T19:38:59.766" v="59"/>
        <pc:sldMkLst>
          <pc:docMk/>
          <pc:sldMk cId="1190312683" sldId="265"/>
        </pc:sldMkLst>
      </pc:sldChg>
      <pc:sldChg chg="modSp">
        <pc:chgData name="Guest User" userId="" providerId="Windows Live" clId="Web-{737DD298-B361-2522-8F5D-68B55ED3036D}" dt="2025-12-04T19:24:44.900" v="2" actId="20577"/>
        <pc:sldMkLst>
          <pc:docMk/>
          <pc:sldMk cId="1782458717" sldId="266"/>
        </pc:sldMkLst>
        <pc:spChg chg="mod">
          <ac:chgData name="Guest User" userId="" providerId="Windows Live" clId="Web-{737DD298-B361-2522-8F5D-68B55ED3036D}" dt="2025-12-04T19:24:44.900" v="2" actId="20577"/>
          <ac:spMkLst>
            <pc:docMk/>
            <pc:sldMk cId="1782458717" sldId="266"/>
            <ac:spMk id="3" creationId="{2C5A414A-1E24-8BFF-D2DC-A819DA43FB99}"/>
          </ac:spMkLst>
        </pc:spChg>
      </pc:sldChg>
      <pc:sldChg chg="ord">
        <pc:chgData name="Guest User" userId="" providerId="Windows Live" clId="Web-{737DD298-B361-2522-8F5D-68B55ED3036D}" dt="2025-12-04T19:38:12.264" v="55"/>
        <pc:sldMkLst>
          <pc:docMk/>
          <pc:sldMk cId="2885745665" sldId="267"/>
        </pc:sldMkLst>
      </pc:sldChg>
      <pc:sldChg chg="modSp new">
        <pc:chgData name="Guest User" userId="" providerId="Windows Live" clId="Web-{737DD298-B361-2522-8F5D-68B55ED3036D}" dt="2025-12-04T21:05:54.054" v="133" actId="20577"/>
        <pc:sldMkLst>
          <pc:docMk/>
          <pc:sldMk cId="890010777" sldId="268"/>
        </pc:sldMkLst>
        <pc:spChg chg="mod">
          <ac:chgData name="Guest User" userId="" providerId="Windows Live" clId="Web-{737DD298-B361-2522-8F5D-68B55ED3036D}" dt="2025-12-04T21:05:54.054" v="133" actId="20577"/>
          <ac:spMkLst>
            <pc:docMk/>
            <pc:sldMk cId="890010777" sldId="268"/>
            <ac:spMk id="3" creationId="{A57932A5-9D54-8971-AAB4-A36C9BFB3D3C}"/>
          </ac:spMkLst>
        </pc:spChg>
      </pc:sldChg>
    </pc:docChg>
  </pc:docChgLst>
  <pc:docChgLst>
    <pc:chgData name="Guest User" providerId="Windows Live" clId="Web-{D00E0FBE-0C1F-19ED-E294-CFFD4375A11C}"/>
    <pc:docChg chg="modSld">
      <pc:chgData name="Guest User" userId="" providerId="Windows Live" clId="Web-{D00E0FBE-0C1F-19ED-E294-CFFD4375A11C}" dt="2025-12-04T19:19:05.051" v="2" actId="20577"/>
      <pc:docMkLst>
        <pc:docMk/>
      </pc:docMkLst>
      <pc:sldChg chg="modSp">
        <pc:chgData name="Guest User" userId="" providerId="Windows Live" clId="Web-{D00E0FBE-0C1F-19ED-E294-CFFD4375A11C}" dt="2025-12-04T19:19:05.051" v="2" actId="20577"/>
        <pc:sldMkLst>
          <pc:docMk/>
          <pc:sldMk cId="500425201" sldId="259"/>
        </pc:sldMkLst>
        <pc:spChg chg="mod">
          <ac:chgData name="Guest User" userId="" providerId="Windows Live" clId="Web-{D00E0FBE-0C1F-19ED-E294-CFFD4375A11C}" dt="2025-12-04T19:19:05.051" v="2" actId="20577"/>
          <ac:spMkLst>
            <pc:docMk/>
            <pc:sldMk cId="500425201" sldId="259"/>
            <ac:spMk id="3" creationId="{C99ACEF9-E95D-50AB-0947-0F843C39C53D}"/>
          </ac:spMkLst>
        </pc:spChg>
      </pc:sldChg>
    </pc:docChg>
  </pc:docChgLst>
  <pc:docChgLst>
    <pc:chgData name="Suhani Patel" userId="d77903951d536282" providerId="LiveId" clId="{C6B55E52-70FA-41D4-B481-53341B88EBCE}"/>
    <pc:docChg chg="undo custSel addSld modSld">
      <pc:chgData name="Suhani Patel" userId="d77903951d536282" providerId="LiveId" clId="{C6B55E52-70FA-41D4-B481-53341B88EBCE}" dt="2025-12-04T21:48:14.051" v="200" actId="15"/>
      <pc:docMkLst>
        <pc:docMk/>
      </pc:docMkLst>
      <pc:sldChg chg="modSp mod">
        <pc:chgData name="Suhani Patel" userId="d77903951d536282" providerId="LiveId" clId="{C6B55E52-70FA-41D4-B481-53341B88EBCE}" dt="2025-12-04T19:13:50.666" v="1" actId="5793"/>
        <pc:sldMkLst>
          <pc:docMk/>
          <pc:sldMk cId="3032999063" sldId="257"/>
        </pc:sldMkLst>
        <pc:spChg chg="mod">
          <ac:chgData name="Suhani Patel" userId="d77903951d536282" providerId="LiveId" clId="{C6B55E52-70FA-41D4-B481-53341B88EBCE}" dt="2025-12-04T19:13:50.666" v="1" actId="5793"/>
          <ac:spMkLst>
            <pc:docMk/>
            <pc:sldMk cId="3032999063" sldId="257"/>
            <ac:spMk id="3" creationId="{9DCF28F3-FC1D-27D5-3E6D-B8072661800F}"/>
          </ac:spMkLst>
        </pc:spChg>
      </pc:sldChg>
      <pc:sldChg chg="addSp delSp modSp mod">
        <pc:chgData name="Suhani Patel" userId="d77903951d536282" providerId="LiveId" clId="{C6B55E52-70FA-41D4-B481-53341B88EBCE}" dt="2025-12-04T19:17:36.292" v="9" actId="113"/>
        <pc:sldMkLst>
          <pc:docMk/>
          <pc:sldMk cId="1144064885" sldId="258"/>
        </pc:sldMkLst>
        <pc:spChg chg="mod">
          <ac:chgData name="Suhani Patel" userId="d77903951d536282" providerId="LiveId" clId="{C6B55E52-70FA-41D4-B481-53341B88EBCE}" dt="2025-12-04T19:17:36.292" v="9" actId="113"/>
          <ac:spMkLst>
            <pc:docMk/>
            <pc:sldMk cId="1144064885" sldId="258"/>
            <ac:spMk id="3" creationId="{B4E5FDBB-DB73-42AA-8F1A-CC2DDD1A7E75}"/>
          </ac:spMkLst>
        </pc:spChg>
        <pc:spChg chg="add del mod">
          <ac:chgData name="Suhani Patel" userId="d77903951d536282" providerId="LiveId" clId="{C6B55E52-70FA-41D4-B481-53341B88EBCE}" dt="2025-12-04T19:16:51.761" v="5" actId="478"/>
          <ac:spMkLst>
            <pc:docMk/>
            <pc:sldMk cId="1144064885" sldId="258"/>
            <ac:spMk id="6" creationId="{3D2F3EBA-9F95-96ED-8F5A-DAACD0918BEF}"/>
          </ac:spMkLst>
        </pc:spChg>
      </pc:sldChg>
      <pc:sldChg chg="modSp mod">
        <pc:chgData name="Suhani Patel" userId="d77903951d536282" providerId="LiveId" clId="{C6B55E52-70FA-41D4-B481-53341B88EBCE}" dt="2025-12-04T19:22:49.801" v="40" actId="5793"/>
        <pc:sldMkLst>
          <pc:docMk/>
          <pc:sldMk cId="500425201" sldId="259"/>
        </pc:sldMkLst>
        <pc:spChg chg="mod">
          <ac:chgData name="Suhani Patel" userId="d77903951d536282" providerId="LiveId" clId="{C6B55E52-70FA-41D4-B481-53341B88EBCE}" dt="2025-12-04T19:22:49.801" v="40" actId="5793"/>
          <ac:spMkLst>
            <pc:docMk/>
            <pc:sldMk cId="500425201" sldId="259"/>
            <ac:spMk id="3" creationId="{C99ACEF9-E95D-50AB-0947-0F843C39C53D}"/>
          </ac:spMkLst>
        </pc:spChg>
      </pc:sldChg>
      <pc:sldChg chg="modSp mod">
        <pc:chgData name="Suhani Patel" userId="d77903951d536282" providerId="LiveId" clId="{C6B55E52-70FA-41D4-B481-53341B88EBCE}" dt="2025-12-04T19:38:03.237" v="192" actId="27636"/>
        <pc:sldMkLst>
          <pc:docMk/>
          <pc:sldMk cId="3493927271" sldId="260"/>
        </pc:sldMkLst>
        <pc:spChg chg="mod">
          <ac:chgData name="Suhani Patel" userId="d77903951d536282" providerId="LiveId" clId="{C6B55E52-70FA-41D4-B481-53341B88EBCE}" dt="2025-12-04T19:38:03.237" v="192" actId="27636"/>
          <ac:spMkLst>
            <pc:docMk/>
            <pc:sldMk cId="3493927271" sldId="260"/>
            <ac:spMk id="3" creationId="{B23C9DB1-EDA2-1345-AD0F-495861D3891C}"/>
          </ac:spMkLst>
        </pc:spChg>
      </pc:sldChg>
      <pc:sldChg chg="modSp mod">
        <pc:chgData name="Suhani Patel" userId="d77903951d536282" providerId="LiveId" clId="{C6B55E52-70FA-41D4-B481-53341B88EBCE}" dt="2025-12-04T21:48:14.051" v="200" actId="15"/>
        <pc:sldMkLst>
          <pc:docMk/>
          <pc:sldMk cId="3755587888" sldId="263"/>
        </pc:sldMkLst>
        <pc:spChg chg="mod">
          <ac:chgData name="Suhani Patel" userId="d77903951d536282" providerId="LiveId" clId="{C6B55E52-70FA-41D4-B481-53341B88EBCE}" dt="2025-12-04T21:48:14.051" v="200" actId="15"/>
          <ac:spMkLst>
            <pc:docMk/>
            <pc:sldMk cId="3755587888" sldId="263"/>
            <ac:spMk id="3" creationId="{24C91DF0-89E9-76B9-AD6A-DB306A119394}"/>
          </ac:spMkLst>
        </pc:spChg>
      </pc:sldChg>
      <pc:sldChg chg="delSp modSp new mod">
        <pc:chgData name="Suhani Patel" userId="d77903951d536282" providerId="LiveId" clId="{C6B55E52-70FA-41D4-B481-53341B88EBCE}" dt="2025-12-04T19:36:44.358" v="180" actId="1076"/>
        <pc:sldMkLst>
          <pc:docMk/>
          <pc:sldMk cId="1782458717" sldId="266"/>
        </pc:sldMkLst>
        <pc:spChg chg="del mod">
          <ac:chgData name="Suhani Patel" userId="d77903951d536282" providerId="LiveId" clId="{C6B55E52-70FA-41D4-B481-53341B88EBCE}" dt="2025-12-04T19:34:32.292" v="120" actId="478"/>
          <ac:spMkLst>
            <pc:docMk/>
            <pc:sldMk cId="1782458717" sldId="266"/>
            <ac:spMk id="2" creationId="{4EC24624-3357-CF7E-6FB1-BA227A76FCC1}"/>
          </ac:spMkLst>
        </pc:spChg>
        <pc:spChg chg="mod">
          <ac:chgData name="Suhani Patel" userId="d77903951d536282" providerId="LiveId" clId="{C6B55E52-70FA-41D4-B481-53341B88EBCE}" dt="2025-12-04T19:36:44.358" v="180" actId="1076"/>
          <ac:spMkLst>
            <pc:docMk/>
            <pc:sldMk cId="1782458717" sldId="266"/>
            <ac:spMk id="3" creationId="{2C5A414A-1E24-8BFF-D2DC-A819DA43FB99}"/>
          </ac:spMkLst>
        </pc:spChg>
      </pc:sldChg>
      <pc:sldChg chg="delSp modSp new mod">
        <pc:chgData name="Suhani Patel" userId="d77903951d536282" providerId="LiveId" clId="{C6B55E52-70FA-41D4-B481-53341B88EBCE}" dt="2025-12-04T19:39:24.406" v="199" actId="1076"/>
        <pc:sldMkLst>
          <pc:docMk/>
          <pc:sldMk cId="2885745665" sldId="267"/>
        </pc:sldMkLst>
        <pc:spChg chg="del mod">
          <ac:chgData name="Suhani Patel" userId="d77903951d536282" providerId="LiveId" clId="{C6B55E52-70FA-41D4-B481-53341B88EBCE}" dt="2025-12-04T19:39:20.972" v="198" actId="478"/>
          <ac:spMkLst>
            <pc:docMk/>
            <pc:sldMk cId="2885745665" sldId="267"/>
            <ac:spMk id="2" creationId="{A0E6F260-C210-2264-45D8-47C13188421E}"/>
          </ac:spMkLst>
        </pc:spChg>
        <pc:spChg chg="mod">
          <ac:chgData name="Suhani Patel" userId="d77903951d536282" providerId="LiveId" clId="{C6B55E52-70FA-41D4-B481-53341B88EBCE}" dt="2025-12-04T19:39:24.406" v="199" actId="1076"/>
          <ac:spMkLst>
            <pc:docMk/>
            <pc:sldMk cId="2885745665" sldId="267"/>
            <ac:spMk id="3" creationId="{BFCF7076-C39F-32E1-3C13-5EDE68D35C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C7D8887C-7EF0-4836-BEBD-6849D3724569}" type="datetimeFigureOut">
              <a:rPr lang="en-IN" smtClean="0"/>
              <a:pPr/>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D1EED570-12FC-41A8-A6BD-EC279C6036D6}" type="slidenum">
              <a:rPr lang="en-IN" smtClean="0"/>
              <a:pPr/>
              <a:t>‹#›</a:t>
            </a:fld>
            <a:endParaRPr lang="en-IN"/>
          </a:p>
        </p:txBody>
      </p:sp>
    </p:spTree>
    <p:extLst>
      <p:ext uri="{BB962C8B-B14F-4D97-AF65-F5344CB8AC3E}">
        <p14:creationId xmlns:p14="http://schemas.microsoft.com/office/powerpoint/2010/main" val="216773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46662CF-6AAB-41E5-9F59-5F9821C23A07}"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2229884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870723-934B-4C5C-8E11-E1A0D01FA804}"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71936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316D70-AEA4-4737-B110-42188A0D2734}"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250351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32AFAF-C2C2-4F1D-A9E2-FBD526C52A90}" type="datetime1">
              <a:rPr lang="en-IN" smtClean="0"/>
              <a:t>05-12-2025</a:t>
            </a:fld>
            <a:endParaRPr lang="en-IN"/>
          </a:p>
        </p:txBody>
      </p:sp>
      <p:sp>
        <p:nvSpPr>
          <p:cNvPr id="6" name="Footer Placeholder 5"/>
          <p:cNvSpPr>
            <a:spLocks noGrp="1"/>
          </p:cNvSpPr>
          <p:nvPr>
            <p:ph type="ftr" sz="quarter" idx="11"/>
          </p:nvPr>
        </p:nvSpPr>
        <p:spPr/>
        <p:txBody>
          <a:bodyPr/>
          <a:lstStyle/>
          <a:p>
            <a:r>
              <a:rPr lang="en-US"/>
              <a:t>8th Mile X Overnight Hackathon</a:t>
            </a:r>
            <a:endParaRPr lang="en-IN"/>
          </a:p>
        </p:txBody>
      </p:sp>
      <p:sp>
        <p:nvSpPr>
          <p:cNvPr id="7" name="Slide Number Placeholder 6"/>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413382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1017F2-7850-43DB-87C4-6B69E3351041}" type="datetime1">
              <a:rPr lang="en-IN" smtClean="0"/>
              <a:t>05-12-2025</a:t>
            </a:fld>
            <a:endParaRPr lang="en-IN"/>
          </a:p>
        </p:txBody>
      </p:sp>
      <p:sp>
        <p:nvSpPr>
          <p:cNvPr id="8" name="Footer Placeholder 7"/>
          <p:cNvSpPr>
            <a:spLocks noGrp="1"/>
          </p:cNvSpPr>
          <p:nvPr>
            <p:ph type="ftr" sz="quarter" idx="11"/>
          </p:nvPr>
        </p:nvSpPr>
        <p:spPr/>
        <p:txBody>
          <a:bodyPr/>
          <a:lstStyle/>
          <a:p>
            <a:r>
              <a:rPr lang="en-US"/>
              <a:t>8th Mile X Overnight Hackathon</a:t>
            </a:r>
            <a:endParaRPr lang="en-IN"/>
          </a:p>
        </p:txBody>
      </p:sp>
      <p:sp>
        <p:nvSpPr>
          <p:cNvPr id="9" name="Slide Number Placeholder 8"/>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2550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0425A6-829B-458F-BE3C-BFBBE8285B5F}" type="datetime1">
              <a:rPr lang="en-IN" smtClean="0"/>
              <a:t>05-12-2025</a:t>
            </a:fld>
            <a:endParaRPr lang="en-IN"/>
          </a:p>
        </p:txBody>
      </p:sp>
      <p:sp>
        <p:nvSpPr>
          <p:cNvPr id="4" name="Footer Placeholder 3"/>
          <p:cNvSpPr>
            <a:spLocks noGrp="1"/>
          </p:cNvSpPr>
          <p:nvPr>
            <p:ph type="ftr" sz="quarter" idx="11"/>
          </p:nvPr>
        </p:nvSpPr>
        <p:spPr/>
        <p:txBody>
          <a:bodyPr/>
          <a:lstStyle/>
          <a:p>
            <a:r>
              <a:rPr lang="en-US"/>
              <a:t>8th Mile X Overnight Hackathon</a:t>
            </a:r>
            <a:endParaRPr lang="en-IN"/>
          </a:p>
        </p:txBody>
      </p:sp>
      <p:sp>
        <p:nvSpPr>
          <p:cNvPr id="5" name="Slide Number Placeholder 4"/>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1158568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6450E-2391-48A4-94F5-674C0D15D9AF}" type="datetime1">
              <a:rPr lang="en-IN" smtClean="0"/>
              <a:t>05-12-2025</a:t>
            </a:fld>
            <a:endParaRPr lang="en-IN"/>
          </a:p>
        </p:txBody>
      </p:sp>
      <p:sp>
        <p:nvSpPr>
          <p:cNvPr id="3" name="Footer Placeholder 2"/>
          <p:cNvSpPr>
            <a:spLocks noGrp="1"/>
          </p:cNvSpPr>
          <p:nvPr>
            <p:ph type="ftr" sz="quarter" idx="11"/>
          </p:nvPr>
        </p:nvSpPr>
        <p:spPr/>
        <p:txBody>
          <a:bodyPr/>
          <a:lstStyle/>
          <a:p>
            <a:r>
              <a:rPr lang="en-US"/>
              <a:t>8th Mile X Overnight Hackathon</a:t>
            </a:r>
            <a:endParaRPr lang="en-IN"/>
          </a:p>
        </p:txBody>
      </p:sp>
      <p:sp>
        <p:nvSpPr>
          <p:cNvPr id="4" name="Slide Number Placeholder 3"/>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227571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57ACD5-39B7-4B68-9759-FD02D7A8C9D4}" type="datetime1">
              <a:rPr lang="en-IN" smtClean="0"/>
              <a:t>05-12-2025</a:t>
            </a:fld>
            <a:endParaRPr lang="en-IN"/>
          </a:p>
        </p:txBody>
      </p:sp>
      <p:sp>
        <p:nvSpPr>
          <p:cNvPr id="6" name="Footer Placeholder 5"/>
          <p:cNvSpPr>
            <a:spLocks noGrp="1"/>
          </p:cNvSpPr>
          <p:nvPr>
            <p:ph type="ftr" sz="quarter" idx="11"/>
          </p:nvPr>
        </p:nvSpPr>
        <p:spPr/>
        <p:txBody>
          <a:bodyPr/>
          <a:lstStyle/>
          <a:p>
            <a:r>
              <a:rPr lang="en-US"/>
              <a:t>8th Mile X Overnight Hackathon</a:t>
            </a:r>
            <a:endParaRPr lang="en-IN"/>
          </a:p>
        </p:txBody>
      </p:sp>
      <p:sp>
        <p:nvSpPr>
          <p:cNvPr id="7" name="Slide Number Placeholder 6"/>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168322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B3984C-E423-4DD4-8F10-D1B767775CC5}" type="datetime1">
              <a:rPr lang="en-IN" smtClean="0"/>
              <a:t>05-12-2025</a:t>
            </a:fld>
            <a:endParaRPr lang="en-IN"/>
          </a:p>
        </p:txBody>
      </p:sp>
      <p:sp>
        <p:nvSpPr>
          <p:cNvPr id="6" name="Footer Placeholder 5"/>
          <p:cNvSpPr>
            <a:spLocks noGrp="1"/>
          </p:cNvSpPr>
          <p:nvPr>
            <p:ph type="ftr" sz="quarter" idx="11"/>
          </p:nvPr>
        </p:nvSpPr>
        <p:spPr/>
        <p:txBody>
          <a:bodyPr/>
          <a:lstStyle/>
          <a:p>
            <a:r>
              <a:rPr lang="en-US"/>
              <a:t>8th Mile X Overnight Hackathon</a:t>
            </a:r>
            <a:endParaRPr lang="en-IN"/>
          </a:p>
        </p:txBody>
      </p:sp>
      <p:sp>
        <p:nvSpPr>
          <p:cNvPr id="7" name="Slide Number Placeholder 6"/>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968367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A57743-250E-476C-AEB6-30ABC12C9432}"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638566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F9301-C3DC-4859-A0E7-08AD7EBFEC04}" type="datetime1">
              <a:rPr lang="en-IN" smtClean="0"/>
              <a:t>05-12-2025</a:t>
            </a:fld>
            <a:endParaRPr lang="en-IN"/>
          </a:p>
        </p:txBody>
      </p:sp>
      <p:sp>
        <p:nvSpPr>
          <p:cNvPr id="5" name="Footer Placeholder 4"/>
          <p:cNvSpPr>
            <a:spLocks noGrp="1"/>
          </p:cNvSpPr>
          <p:nvPr>
            <p:ph type="ftr" sz="quarter" idx="11"/>
          </p:nvPr>
        </p:nvSpPr>
        <p:spPr/>
        <p:txBody>
          <a:bodyPr/>
          <a:lstStyle/>
          <a:p>
            <a:r>
              <a:rPr lang="en-US"/>
              <a:t>8th Mile X Overnight Hackathon</a:t>
            </a:r>
            <a:endParaRPr lang="en-IN"/>
          </a:p>
        </p:txBody>
      </p:sp>
      <p:sp>
        <p:nvSpPr>
          <p:cNvPr id="6" name="Slide Number Placeholder 5"/>
          <p:cNvSpPr>
            <a:spLocks noGrp="1"/>
          </p:cNvSpPr>
          <p:nvPr>
            <p:ph type="sldNum" sz="quarter" idx="12"/>
          </p:nvPr>
        </p:nvSpPr>
        <p:spPr/>
        <p:txBody>
          <a:bodyPr/>
          <a:lstStyle/>
          <a:p>
            <a:fld id="{9E7A7228-CC1B-43A0-B0BD-71BB82C556D5}" type="slidenum">
              <a:rPr lang="en-IN" smtClean="0"/>
              <a:t>‹#›</a:t>
            </a:fld>
            <a:endParaRPr lang="en-IN"/>
          </a:p>
        </p:txBody>
      </p:sp>
    </p:spTree>
    <p:extLst>
      <p:ext uri="{BB962C8B-B14F-4D97-AF65-F5344CB8AC3E}">
        <p14:creationId xmlns:p14="http://schemas.microsoft.com/office/powerpoint/2010/main" val="39725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3B1FAF43-094C-4256-886E-2CC6F4954150}" type="datetime1">
              <a:rPr lang="en-IN" smtClean="0"/>
              <a:t>05-12-2025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r>
              <a:rPr lang="en-US"/>
              <a:t>8th Mile X Overnight Hackathon</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9E7A7228-CC1B-43A0-B0BD-71BB82C556D5}" type="slidenum">
              <a:rPr lang="en-IN" smtClean="0"/>
              <a:pPr/>
              <a:t>‹#›</a:t>
            </a:fld>
            <a:endParaRPr lang="en-IN"/>
          </a:p>
        </p:txBody>
      </p:sp>
    </p:spTree>
    <p:extLst>
      <p:ext uri="{BB962C8B-B14F-4D97-AF65-F5344CB8AC3E}">
        <p14:creationId xmlns:p14="http://schemas.microsoft.com/office/powerpoint/2010/main" val="69054014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9612-7AE2-27E2-C33A-A73383CFCB7E}"/>
              </a:ext>
            </a:extLst>
          </p:cNvPr>
          <p:cNvSpPr>
            <a:spLocks noGrp="1"/>
          </p:cNvSpPr>
          <p:nvPr>
            <p:ph type="ctrTitle"/>
          </p:nvPr>
        </p:nvSpPr>
        <p:spPr>
          <a:xfrm>
            <a:off x="1524000" y="2110595"/>
            <a:ext cx="9144000" cy="1399367"/>
          </a:xfrm>
        </p:spPr>
        <p:txBody>
          <a:bodyPr/>
          <a:lstStyle/>
          <a:p>
            <a:r>
              <a:rPr lang="en-US">
                <a:latin typeface="Times New Roman"/>
                <a:cs typeface="Times New Roman"/>
              </a:rPr>
              <a:t>Team Name: R2S2</a:t>
            </a:r>
            <a:endParaRPr lang="en-IN">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4FFCA5A-0F2F-79F8-C0C2-E15F754EC2FE}"/>
              </a:ext>
            </a:extLst>
          </p:cNvPr>
          <p:cNvSpPr>
            <a:spLocks noGrp="1"/>
          </p:cNvSpPr>
          <p:nvPr>
            <p:ph type="subTitle" idx="1"/>
          </p:nvPr>
        </p:nvSpPr>
        <p:spPr/>
        <p:txBody>
          <a:bodyPr vert="horz" lIns="91440" tIns="45720" rIns="91440" bIns="45720" rtlCol="0" anchor="t">
            <a:normAutofit fontScale="77500" lnSpcReduction="20000"/>
          </a:bodyPr>
          <a:lstStyle/>
          <a:p>
            <a:r>
              <a:rPr lang="en-US">
                <a:latin typeface="Times New Roman"/>
                <a:cs typeface="Times New Roman"/>
              </a:rPr>
              <a:t>Team details:</a:t>
            </a:r>
          </a:p>
          <a:p>
            <a:r>
              <a:rPr lang="en-US">
                <a:latin typeface="Times New Roman"/>
                <a:cs typeface="Times New Roman"/>
              </a:rPr>
              <a:t>Ridhi </a:t>
            </a:r>
            <a:r>
              <a:rPr lang="en-US" err="1">
                <a:latin typeface="Times New Roman"/>
                <a:cs typeface="Times New Roman"/>
              </a:rPr>
              <a:t>Mimani</a:t>
            </a:r>
            <a:r>
              <a:rPr lang="en-US">
                <a:latin typeface="Times New Roman"/>
                <a:cs typeface="Times New Roman"/>
              </a:rPr>
              <a:t> (Team Lead)</a:t>
            </a:r>
          </a:p>
          <a:p>
            <a:r>
              <a:rPr lang="en-US">
                <a:latin typeface="Times New Roman"/>
                <a:cs typeface="Times New Roman"/>
              </a:rPr>
              <a:t>Suhani Amit Patel</a:t>
            </a:r>
          </a:p>
          <a:p>
            <a:r>
              <a:rPr lang="en-US">
                <a:latin typeface="Times New Roman"/>
                <a:cs typeface="Times New Roman"/>
              </a:rPr>
              <a:t>Sinchana </a:t>
            </a:r>
            <a:r>
              <a:rPr lang="en-US" err="1">
                <a:latin typeface="Times New Roman"/>
                <a:cs typeface="Times New Roman"/>
              </a:rPr>
              <a:t>Jeevangi</a:t>
            </a:r>
            <a:endParaRPr lang="en-US">
              <a:latin typeface="Times New Roman"/>
              <a:cs typeface="Times New Roman"/>
            </a:endParaRPr>
          </a:p>
          <a:p>
            <a:r>
              <a:rPr lang="en-US">
                <a:latin typeface="Times New Roman"/>
                <a:cs typeface="Times New Roman"/>
              </a:rPr>
              <a:t>Riya Mehta</a:t>
            </a:r>
            <a:endParaRPr lang="en-US">
              <a:cs typeface="Times New Roman" panose="02020603050405020304" pitchFamily="18" charset="0"/>
            </a:endParaRPr>
          </a:p>
        </p:txBody>
      </p:sp>
      <p:sp>
        <p:nvSpPr>
          <p:cNvPr id="7" name="TextBox 6">
            <a:extLst>
              <a:ext uri="{FF2B5EF4-FFF2-40B4-BE49-F238E27FC236}">
                <a16:creationId xmlns:a16="http://schemas.microsoft.com/office/drawing/2014/main" id="{4BF04C8E-105F-DEFB-9BE3-A3532FB04480}"/>
              </a:ext>
            </a:extLst>
          </p:cNvPr>
          <p:cNvSpPr txBox="1"/>
          <p:nvPr/>
        </p:nvSpPr>
        <p:spPr>
          <a:xfrm>
            <a:off x="3048000" y="3245771"/>
            <a:ext cx="6096000" cy="369332"/>
          </a:xfrm>
          <a:prstGeom prst="rect">
            <a:avLst/>
          </a:prstGeom>
          <a:noFill/>
        </p:spPr>
        <p:txBody>
          <a:bodyPr wrap="square">
            <a:spAutoFit/>
          </a:bodyPr>
          <a:lstStyle/>
          <a:p>
            <a:endParaRPr lang="en-IN">
              <a:latin typeface="Times New Roman" panose="02020603050405020304" pitchFamily="18" charset="0"/>
            </a:endParaRPr>
          </a:p>
        </p:txBody>
      </p:sp>
      <p:pic>
        <p:nvPicPr>
          <p:cNvPr id="11" name="Picture 10">
            <a:extLst>
              <a:ext uri="{FF2B5EF4-FFF2-40B4-BE49-F238E27FC236}">
                <a16:creationId xmlns:a16="http://schemas.microsoft.com/office/drawing/2014/main" id="{5C5407D8-01FB-606E-FF88-38D90059A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17" y="310556"/>
            <a:ext cx="2305893" cy="990644"/>
          </a:xfrm>
          <a:prstGeom prst="rect">
            <a:avLst/>
          </a:prstGeom>
        </p:spPr>
      </p:pic>
      <p:sp>
        <p:nvSpPr>
          <p:cNvPr id="5" name="TextBox 4">
            <a:extLst>
              <a:ext uri="{FF2B5EF4-FFF2-40B4-BE49-F238E27FC236}">
                <a16:creationId xmlns:a16="http://schemas.microsoft.com/office/drawing/2014/main" id="{7EEF3145-EB29-5521-1C64-590D28F5B7E7}"/>
              </a:ext>
            </a:extLst>
          </p:cNvPr>
          <p:cNvSpPr txBox="1"/>
          <p:nvPr/>
        </p:nvSpPr>
        <p:spPr>
          <a:xfrm>
            <a:off x="3357908" y="417905"/>
            <a:ext cx="5476184" cy="707886"/>
          </a:xfrm>
          <a:prstGeom prst="rect">
            <a:avLst/>
          </a:prstGeom>
          <a:noFill/>
        </p:spPr>
        <p:txBody>
          <a:bodyPr wrap="square" rtlCol="0">
            <a:spAutoFit/>
          </a:bodyPr>
          <a:lstStyle/>
          <a:p>
            <a:pPr algn="ctr"/>
            <a:r>
              <a:rPr lang="en-US" sz="4000">
                <a:solidFill>
                  <a:srgbClr val="FFED00"/>
                </a:solidFill>
                <a:latin typeface="Berlin Sans FB Demi" panose="020E0802020502020306" pitchFamily="34" charset="0"/>
              </a:rPr>
              <a:t>Overnight Hackathon</a:t>
            </a:r>
            <a:endParaRPr lang="en-IN" sz="4000">
              <a:solidFill>
                <a:srgbClr val="FFED00"/>
              </a:solidFill>
              <a:latin typeface="Berlin Sans FB Demi" panose="020E0802020502020306" pitchFamily="34" charset="0"/>
            </a:endParaRPr>
          </a:p>
        </p:txBody>
      </p:sp>
      <p:pic>
        <p:nvPicPr>
          <p:cNvPr id="1026" name="Picture 2" descr="Coding Club RVCE - YouTube">
            <a:extLst>
              <a:ext uri="{FF2B5EF4-FFF2-40B4-BE49-F238E27FC236}">
                <a16:creationId xmlns:a16="http://schemas.microsoft.com/office/drawing/2014/main" id="{B7DA7CCD-8519-BB5C-FF2C-98F56B8879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217663" y="182181"/>
            <a:ext cx="1611544" cy="1331909"/>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B1C53965-DDE0-071D-A944-C778F6F51BB3}"/>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8th Mile X Overnight Hackathon</a:t>
            </a:r>
            <a:endParaRPr lang="en-IN">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2A1C2B0-E1CF-A76A-8DA1-1861999832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7045" y="182181"/>
            <a:ext cx="1119019" cy="1119019"/>
          </a:xfrm>
          <a:prstGeom prst="rect">
            <a:avLst/>
          </a:prstGeom>
        </p:spPr>
      </p:pic>
      <p:cxnSp>
        <p:nvCxnSpPr>
          <p:cNvPr id="10" name="Straight Connector 9">
            <a:extLst>
              <a:ext uri="{FF2B5EF4-FFF2-40B4-BE49-F238E27FC236}">
                <a16:creationId xmlns:a16="http://schemas.microsoft.com/office/drawing/2014/main" id="{07A40A5D-41C7-857C-C05E-2517086FB91D}"/>
              </a:ext>
            </a:extLst>
          </p:cNvPr>
          <p:cNvCxnSpPr>
            <a:cxnSpLocks/>
          </p:cNvCxnSpPr>
          <p:nvPr/>
        </p:nvCxnSpPr>
        <p:spPr>
          <a:xfrm>
            <a:off x="10947002" y="310556"/>
            <a:ext cx="0" cy="92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68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DB19-A6AA-2E16-D353-BB481801B175}"/>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Problem Statement</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9DCF28F3-FC1D-27D5-3E6D-B8072661800F}"/>
              </a:ext>
            </a:extLst>
          </p:cNvPr>
          <p:cNvSpPr>
            <a:spLocks noGrp="1"/>
          </p:cNvSpPr>
          <p:nvPr>
            <p:ph idx="1"/>
          </p:nvPr>
        </p:nvSpPr>
        <p:spPr/>
        <p:txBody>
          <a:bodyPr/>
          <a:lstStyle/>
          <a:p>
            <a:pPr marL="0" indent="0">
              <a:buNone/>
            </a:pPr>
            <a:r>
              <a:rPr lang="en-US"/>
              <a:t>Agricultural subsidy distribution lacks transparency and monitoring, enabling dealers to inflate beneficiary lists, divert subsidized goods, and generate fake invoices. There is an urgent need for a scalable data‑driven system that can automatically detect fraud patterns and identify suspicious dealers to ensure subsidies reach genuine farmers.</a:t>
            </a:r>
            <a:endParaRPr lang="en-IN"/>
          </a:p>
        </p:txBody>
      </p:sp>
      <p:sp>
        <p:nvSpPr>
          <p:cNvPr id="4" name="Footer Placeholder 3">
            <a:extLst>
              <a:ext uri="{FF2B5EF4-FFF2-40B4-BE49-F238E27FC236}">
                <a16:creationId xmlns:a16="http://schemas.microsoft.com/office/drawing/2014/main" id="{77CEF9FE-2345-2CFD-5A68-9F5E3688D215}"/>
              </a:ext>
            </a:extLst>
          </p:cNvPr>
          <p:cNvSpPr>
            <a:spLocks noGrp="1"/>
          </p:cNvSpPr>
          <p:nvPr>
            <p:ph type="ftr" sz="quarter" idx="11"/>
          </p:nvPr>
        </p:nvSpPr>
        <p:spPr/>
        <p:txBody>
          <a:bodyPr/>
          <a:lstStyle/>
          <a:p>
            <a:r>
              <a:rPr lang="en-US"/>
              <a:t>8th Mile X Overnight Hackathon</a:t>
            </a:r>
            <a:endParaRPr lang="en-IN"/>
          </a:p>
        </p:txBody>
      </p:sp>
      <p:pic>
        <p:nvPicPr>
          <p:cNvPr id="5" name="Picture 4">
            <a:extLst>
              <a:ext uri="{FF2B5EF4-FFF2-40B4-BE49-F238E27FC236}">
                <a16:creationId xmlns:a16="http://schemas.microsoft.com/office/drawing/2014/main" id="{F809480E-04FA-0596-F393-3CC80184F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6" name="Picture 2" descr="Coding Club RVCE - YouTube">
            <a:extLst>
              <a:ext uri="{FF2B5EF4-FFF2-40B4-BE49-F238E27FC236}">
                <a16:creationId xmlns:a16="http://schemas.microsoft.com/office/drawing/2014/main" id="{8EBE7C6E-E10C-2734-429D-7B6C92A3A9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51674D7-F761-1FCA-898E-0ADCB8EE01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8" name="Straight Connector 7">
            <a:extLst>
              <a:ext uri="{FF2B5EF4-FFF2-40B4-BE49-F238E27FC236}">
                <a16:creationId xmlns:a16="http://schemas.microsoft.com/office/drawing/2014/main" id="{AAB5D268-A3D1-AD21-1ADF-BF036EA48E60}"/>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999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497B2-096F-8F6E-FFD3-9A6DA573AD38}"/>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Proposed Solution</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B4E5FDBB-DB73-42AA-8F1A-CC2DDD1A7E75}"/>
              </a:ext>
            </a:extLst>
          </p:cNvPr>
          <p:cNvSpPr>
            <a:spLocks noGrp="1"/>
          </p:cNvSpPr>
          <p:nvPr>
            <p:ph idx="1"/>
          </p:nvPr>
        </p:nvSpPr>
        <p:spPr/>
        <p:txBody>
          <a:bodyPr/>
          <a:lstStyle/>
          <a:p>
            <a:pPr marL="0" indent="0">
              <a:buNone/>
            </a:pPr>
            <a:r>
              <a:rPr lang="en-US"/>
              <a:t>We propose an automated data‑driven system that analyzes subsidy transaction data to identify and report potential fraud in real time. The system uses anomaly detection and rule‑based validation to flag suspicious dealers and beneficiaries based on patterns such as excessive fertilizer claims, duplicate farmer identities, seasonal spikes, and land‑to‑subsidy mismatches.</a:t>
            </a:r>
            <a:br>
              <a:rPr lang="en-US"/>
            </a:br>
            <a:r>
              <a:rPr lang="en-US"/>
              <a:t>It then generates a fraud investigation report containing a dealer‑wise risk score, detected anomalies, graphical insights, and recommended follow‑up actions — reducing manual audit effort and improving subsidy transparency</a:t>
            </a:r>
            <a:endParaRPr lang="en-IN"/>
          </a:p>
        </p:txBody>
      </p:sp>
      <p:sp>
        <p:nvSpPr>
          <p:cNvPr id="4" name="Footer Placeholder 3">
            <a:extLst>
              <a:ext uri="{FF2B5EF4-FFF2-40B4-BE49-F238E27FC236}">
                <a16:creationId xmlns:a16="http://schemas.microsoft.com/office/drawing/2014/main" id="{AD80965B-6823-497E-AFB8-4ABB6713DD6B}"/>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4FD19F21-6554-EE4F-1134-2DFE846B7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62335"/>
            <a:ext cx="1706952" cy="733330"/>
          </a:xfrm>
          <a:prstGeom prst="rect">
            <a:avLst/>
          </a:prstGeom>
        </p:spPr>
      </p:pic>
      <p:pic>
        <p:nvPicPr>
          <p:cNvPr id="8" name="Picture 2" descr="Coding Club RVCE - YouTube">
            <a:extLst>
              <a:ext uri="{FF2B5EF4-FFF2-40B4-BE49-F238E27FC236}">
                <a16:creationId xmlns:a16="http://schemas.microsoft.com/office/drawing/2014/main" id="{6056AACE-5E5F-784F-1F02-130C50F512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40412"/>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E3B8D0EB-9488-944E-5ABA-98B1C36CF4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40412"/>
            <a:ext cx="898996" cy="898996"/>
          </a:xfrm>
          <a:prstGeom prst="rect">
            <a:avLst/>
          </a:prstGeom>
        </p:spPr>
      </p:pic>
      <p:cxnSp>
        <p:nvCxnSpPr>
          <p:cNvPr id="10" name="Straight Connector 9">
            <a:extLst>
              <a:ext uri="{FF2B5EF4-FFF2-40B4-BE49-F238E27FC236}">
                <a16:creationId xmlns:a16="http://schemas.microsoft.com/office/drawing/2014/main" id="{88E3E2D7-5126-6436-C689-6DEC3DEE0724}"/>
              </a:ext>
            </a:extLst>
          </p:cNvPr>
          <p:cNvCxnSpPr>
            <a:cxnSpLocks/>
          </p:cNvCxnSpPr>
          <p:nvPr/>
        </p:nvCxnSpPr>
        <p:spPr>
          <a:xfrm>
            <a:off x="11205791" y="255536"/>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064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BB26-CD15-DCB2-2437-C4CF2B6708B3}"/>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Key Features</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C99ACEF9-E95D-50AB-0947-0F843C39C53D}"/>
              </a:ext>
            </a:extLst>
          </p:cNvPr>
          <p:cNvSpPr>
            <a:spLocks noGrp="1"/>
          </p:cNvSpPr>
          <p:nvPr>
            <p:ph idx="1"/>
          </p:nvPr>
        </p:nvSpPr>
        <p:spPr/>
        <p:txBody>
          <a:bodyPr vert="horz" lIns="91440" tIns="45720" rIns="91440" bIns="45720" rtlCol="0" anchor="t">
            <a:normAutofit fontScale="32500" lnSpcReduction="20000"/>
          </a:bodyPr>
          <a:lstStyle/>
          <a:p>
            <a:pPr marL="0" indent="0">
              <a:buNone/>
            </a:pPr>
            <a:r>
              <a:rPr lang="en-IN" sz="8000" b="1">
                <a:cs typeface="Times New Roman"/>
              </a:rPr>
              <a:t>1. Unique QR-Code Based Item Tracking</a:t>
            </a:r>
            <a:endParaRPr lang="en-IN" sz="8000" b="1">
              <a:cs typeface="Times New Roman" panose="02020603050405020304" pitchFamily="18" charset="0"/>
            </a:endParaRPr>
          </a:p>
          <a:p>
            <a:pPr marL="0" indent="0">
              <a:buNone/>
            </a:pPr>
            <a:r>
              <a:rPr lang="en-IN" sz="8000">
                <a:cs typeface="Times New Roman"/>
              </a:rPr>
              <a:t>Each fertilizer bag, seed packet, or equipment unit receives a unique QR code for end-to-end traceability across the supply chain.</a:t>
            </a:r>
            <a:endParaRPr lang="en-IN" sz="8000"/>
          </a:p>
          <a:p>
            <a:endParaRPr lang="en-IN" sz="8000"/>
          </a:p>
          <a:p>
            <a:pPr marL="0" indent="0">
              <a:buNone/>
            </a:pPr>
            <a:r>
              <a:rPr lang="en-IN" sz="8000" b="1">
                <a:cs typeface="Times New Roman"/>
              </a:rPr>
              <a:t>2. Verified Farmer Identification System</a:t>
            </a:r>
            <a:endParaRPr lang="en-IN" sz="8000" b="1"/>
          </a:p>
          <a:p>
            <a:pPr marL="0" indent="0">
              <a:buNone/>
            </a:pPr>
            <a:r>
              <a:rPr lang="en-IN" sz="8000">
                <a:cs typeface="Times New Roman"/>
              </a:rPr>
              <a:t>Farmers are authenticated using Aadhaar/phone-based digital IDs, preventing ghost beneficiaries and duplicate entries.</a:t>
            </a:r>
            <a:endParaRPr lang="en-IN" sz="8000"/>
          </a:p>
          <a:p>
            <a:endParaRPr lang="en-IN" sz="8000"/>
          </a:p>
          <a:p>
            <a:pPr marL="0" indent="0">
              <a:buNone/>
            </a:pPr>
            <a:r>
              <a:rPr lang="en-IN" sz="8000" b="1">
                <a:cs typeface="Times New Roman"/>
              </a:rPr>
              <a:t>3. Dealer Scanning &amp; Digital Stock Updates</a:t>
            </a:r>
            <a:endParaRPr lang="en-IN" sz="8000" b="1"/>
          </a:p>
          <a:p>
            <a:pPr marL="0" indent="0">
              <a:buNone/>
            </a:pPr>
            <a:r>
              <a:rPr lang="en-IN" sz="8000">
                <a:cs typeface="Times New Roman"/>
              </a:rPr>
              <a:t>Authorized dealers use a mobile app to scan subsidies during distribution—creating real-time updates of stock movement.</a:t>
            </a:r>
            <a:endParaRPr lang="en-IN" sz="8000"/>
          </a:p>
          <a:p>
            <a:pPr marL="0" indent="0">
              <a:buNone/>
            </a:pPr>
            <a:endParaRPr lang="en-IN" sz="11200"/>
          </a:p>
        </p:txBody>
      </p:sp>
      <p:sp>
        <p:nvSpPr>
          <p:cNvPr id="4" name="Footer Placeholder 3">
            <a:extLst>
              <a:ext uri="{FF2B5EF4-FFF2-40B4-BE49-F238E27FC236}">
                <a16:creationId xmlns:a16="http://schemas.microsoft.com/office/drawing/2014/main" id="{040BD847-7ED9-F646-AB7E-E9606D42A519}"/>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DF2044D5-379F-F03D-8F3B-3D939046F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6584"/>
            <a:ext cx="1706952" cy="733330"/>
          </a:xfrm>
          <a:prstGeom prst="rect">
            <a:avLst/>
          </a:prstGeom>
        </p:spPr>
      </p:pic>
      <p:pic>
        <p:nvPicPr>
          <p:cNvPr id="8" name="Picture 2" descr="Coding Club RVCE - YouTube">
            <a:extLst>
              <a:ext uri="{FF2B5EF4-FFF2-40B4-BE49-F238E27FC236}">
                <a16:creationId xmlns:a16="http://schemas.microsoft.com/office/drawing/2014/main" id="{C1440A6D-A1C8-C404-9784-2A8E3A4850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34661"/>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E271AB1-287D-AF8A-726C-2B1A83C1A0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34661"/>
            <a:ext cx="898996" cy="898996"/>
          </a:xfrm>
          <a:prstGeom prst="rect">
            <a:avLst/>
          </a:prstGeom>
        </p:spPr>
      </p:pic>
      <p:cxnSp>
        <p:nvCxnSpPr>
          <p:cNvPr id="10" name="Straight Connector 9">
            <a:extLst>
              <a:ext uri="{FF2B5EF4-FFF2-40B4-BE49-F238E27FC236}">
                <a16:creationId xmlns:a16="http://schemas.microsoft.com/office/drawing/2014/main" id="{BBB2D34A-EB28-6373-AFFB-E3BE50E6BF03}"/>
              </a:ext>
            </a:extLst>
          </p:cNvPr>
          <p:cNvCxnSpPr>
            <a:cxnSpLocks/>
          </p:cNvCxnSpPr>
          <p:nvPr/>
        </p:nvCxnSpPr>
        <p:spPr>
          <a:xfrm>
            <a:off x="11205791" y="249785"/>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425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5A414A-1E24-8BFF-D2DC-A819DA43FB99}"/>
              </a:ext>
            </a:extLst>
          </p:cNvPr>
          <p:cNvSpPr>
            <a:spLocks noGrp="1"/>
          </p:cNvSpPr>
          <p:nvPr>
            <p:ph idx="1"/>
          </p:nvPr>
        </p:nvSpPr>
        <p:spPr>
          <a:xfrm>
            <a:off x="876300" y="1223645"/>
            <a:ext cx="10081260" cy="3874135"/>
          </a:xfrm>
        </p:spPr>
        <p:txBody>
          <a:bodyPr vert="horz" lIns="91440" tIns="45720" rIns="91440" bIns="45720" rtlCol="0" anchor="t">
            <a:noAutofit/>
          </a:bodyPr>
          <a:lstStyle/>
          <a:p>
            <a:pPr marL="0" indent="0">
              <a:buNone/>
            </a:pPr>
            <a:r>
              <a:rPr lang="en-US" sz="2000">
                <a:cs typeface="Times New Roman"/>
              </a:rPr>
              <a:t>4. Farmer Delivery Confirmation (OTP/App)</a:t>
            </a:r>
            <a:endParaRPr lang="en-US" sz="2000"/>
          </a:p>
          <a:p>
            <a:pPr marL="0" indent="0">
              <a:buNone/>
            </a:pPr>
            <a:r>
              <a:rPr lang="en-US" sz="2000">
                <a:latin typeface="Times New Roman"/>
                <a:cs typeface="Times New Roman"/>
              </a:rPr>
              <a:t>Delivery is validated only when the farmer confirms through an OTP, app click, or SMS—ensuring items actually reach farmers.</a:t>
            </a:r>
            <a:endParaRPr lang="en-US" sz="2000">
              <a:latin typeface="Times New Roman"/>
            </a:endParaRPr>
          </a:p>
          <a:p>
            <a:endParaRPr lang="en-US" sz="2000"/>
          </a:p>
          <a:p>
            <a:pPr marL="0" indent="0">
              <a:buNone/>
            </a:pPr>
            <a:r>
              <a:rPr lang="en-US" sz="2000">
                <a:cs typeface="Times New Roman"/>
              </a:rPr>
              <a:t>5. Real-Time Monitoring Dashboard</a:t>
            </a:r>
            <a:endParaRPr lang="en-US" sz="2000">
              <a:cs typeface="Times New Roman" panose="02020603050405020304" pitchFamily="18" charset="0"/>
            </a:endParaRPr>
          </a:p>
          <a:p>
            <a:pPr marL="0" indent="0">
              <a:buNone/>
            </a:pPr>
            <a:r>
              <a:rPr lang="en-US" sz="2000">
                <a:latin typeface="Times New Roman"/>
                <a:cs typeface="Times New Roman"/>
              </a:rPr>
              <a:t>Government officials access a live dashboard showing:</a:t>
            </a:r>
            <a:endParaRPr lang="en-US" sz="2000">
              <a:latin typeface="Times New Roman"/>
            </a:endParaRPr>
          </a:p>
          <a:p>
            <a:pPr marL="0" indent="0">
              <a:buNone/>
            </a:pPr>
            <a:r>
              <a:rPr lang="en-US" sz="2000">
                <a:latin typeface="Times New Roman"/>
                <a:cs typeface="Times New Roman"/>
              </a:rPr>
              <a:t>stock flow,</a:t>
            </a:r>
            <a:r>
              <a:rPr lang="en-US" sz="2000">
                <a:latin typeface="Times New Roman"/>
              </a:rPr>
              <a:t> </a:t>
            </a:r>
            <a:r>
              <a:rPr lang="en-US" sz="2000">
                <a:latin typeface="Times New Roman"/>
                <a:cs typeface="Times New Roman"/>
              </a:rPr>
              <a:t>deliveries, pending confirmations and alerts</a:t>
            </a:r>
            <a:endParaRPr lang="en-US" sz="2000">
              <a:latin typeface="Times New Roman"/>
            </a:endParaRPr>
          </a:p>
          <a:p>
            <a:pPr marL="0" indent="0">
              <a:buNone/>
            </a:pPr>
            <a:r>
              <a:rPr lang="en-US" sz="2000">
                <a:latin typeface="Times New Roman"/>
                <a:cs typeface="Times New Roman"/>
              </a:rPr>
              <a:t>This increases transparency and oversight</a:t>
            </a:r>
          </a:p>
          <a:p>
            <a:pPr marL="0" indent="0">
              <a:buNone/>
            </a:pPr>
            <a:endParaRPr lang="en-US" sz="2000">
              <a:latin typeface="Times New Roman"/>
              <a:cs typeface="Times New Roman"/>
            </a:endParaRPr>
          </a:p>
          <a:p>
            <a:pPr marL="0" indent="0">
              <a:buNone/>
            </a:pPr>
            <a:r>
              <a:rPr lang="en-US" sz="2000">
                <a:cs typeface="Times New Roman"/>
              </a:rPr>
              <a:t>6. Full Digital Audit Trail</a:t>
            </a:r>
            <a:endParaRPr lang="en-US" sz="2000"/>
          </a:p>
          <a:p>
            <a:pPr marL="0" indent="0">
              <a:buNone/>
            </a:pPr>
            <a:r>
              <a:rPr lang="en-US" sz="2000">
                <a:latin typeface="Times New Roman"/>
                <a:cs typeface="Times New Roman"/>
              </a:rPr>
              <a:t>Every action—scan, confirmation, location, timestamp—is logged, enabling easy auditing and eliminating fake invoices.</a:t>
            </a:r>
            <a:endParaRPr lang="en-US" sz="2000">
              <a:latin typeface="Times New Roman"/>
            </a:endParaRPr>
          </a:p>
          <a:p>
            <a:pPr marL="0" indent="0">
              <a:buNone/>
            </a:pPr>
            <a:endParaRPr lang="en-US" sz="2000">
              <a:latin typeface="Times New Roman"/>
              <a:cs typeface="Times New Roman"/>
            </a:endParaRPr>
          </a:p>
          <a:p>
            <a:pPr marL="0" indent="0">
              <a:buNone/>
            </a:pPr>
            <a:endParaRPr lang="en-US" sz="2000"/>
          </a:p>
        </p:txBody>
      </p:sp>
      <p:sp>
        <p:nvSpPr>
          <p:cNvPr id="4" name="Footer Placeholder 3">
            <a:extLst>
              <a:ext uri="{FF2B5EF4-FFF2-40B4-BE49-F238E27FC236}">
                <a16:creationId xmlns:a16="http://schemas.microsoft.com/office/drawing/2014/main" id="{4F31DAF3-883D-CD98-C681-B0F9F3569AA3}"/>
              </a:ext>
            </a:extLst>
          </p:cNvPr>
          <p:cNvSpPr>
            <a:spLocks noGrp="1"/>
          </p:cNvSpPr>
          <p:nvPr>
            <p:ph type="ftr" sz="quarter" idx="11"/>
          </p:nvPr>
        </p:nvSpPr>
        <p:spPr/>
        <p:txBody>
          <a:bodyPr/>
          <a:lstStyle/>
          <a:p>
            <a:r>
              <a:rPr lang="en-US"/>
              <a:t>8th Mile X Overnight Hackathon</a:t>
            </a:r>
            <a:endParaRPr lang="en-IN"/>
          </a:p>
        </p:txBody>
      </p:sp>
    </p:spTree>
    <p:extLst>
      <p:ext uri="{BB962C8B-B14F-4D97-AF65-F5344CB8AC3E}">
        <p14:creationId xmlns:p14="http://schemas.microsoft.com/office/powerpoint/2010/main" val="1782458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A354-0961-EB0C-3268-4D25B288D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16F5F-5EA3-A182-2137-66D21004D416}"/>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System Architecture</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B23C9DB1-EDA2-1345-AD0F-495861D3891C}"/>
              </a:ext>
            </a:extLst>
          </p:cNvPr>
          <p:cNvSpPr>
            <a:spLocks noGrp="1"/>
          </p:cNvSpPr>
          <p:nvPr>
            <p:ph idx="1"/>
          </p:nvPr>
        </p:nvSpPr>
        <p:spPr/>
        <p:txBody>
          <a:bodyPr vert="horz" lIns="91440" tIns="45720" rIns="91440" bIns="45720" rtlCol="0" anchor="t">
            <a:normAutofit fontScale="77500" lnSpcReduction="20000"/>
          </a:bodyPr>
          <a:lstStyle/>
          <a:p>
            <a:pPr>
              <a:buNone/>
            </a:pPr>
            <a:r>
              <a:rPr lang="en-IN" b="1">
                <a:latin typeface="Times New Roman"/>
                <a:cs typeface="Times New Roman"/>
              </a:rPr>
              <a:t>1. User Layer (Front-End Applications)</a:t>
            </a:r>
            <a:endParaRPr lang="en-US" b="1"/>
          </a:p>
          <a:p>
            <a:pPr>
              <a:buNone/>
            </a:pPr>
            <a:r>
              <a:rPr lang="en-IN">
                <a:latin typeface="Times New Roman"/>
                <a:cs typeface="Times New Roman"/>
              </a:rPr>
              <a:t>a. Farmer App / SMS Interface</a:t>
            </a:r>
            <a:endParaRPr lang="en-IN"/>
          </a:p>
          <a:p>
            <a:pPr>
              <a:buNone/>
            </a:pPr>
            <a:r>
              <a:rPr lang="en-IN">
                <a:latin typeface="Times New Roman"/>
                <a:cs typeface="Times New Roman"/>
              </a:rPr>
              <a:t>b. Dealer app</a:t>
            </a:r>
            <a:endParaRPr lang="en-IN"/>
          </a:p>
          <a:p>
            <a:pPr>
              <a:buNone/>
            </a:pPr>
            <a:r>
              <a:rPr lang="en-IN">
                <a:latin typeface="Times New Roman"/>
                <a:cs typeface="Times New Roman"/>
              </a:rPr>
              <a:t>c. admin dashboard </a:t>
            </a:r>
          </a:p>
          <a:p>
            <a:pPr>
              <a:buNone/>
            </a:pPr>
            <a:endParaRPr lang="en-IN"/>
          </a:p>
          <a:p>
            <a:pPr>
              <a:buNone/>
            </a:pPr>
            <a:r>
              <a:rPr lang="en-IN" b="1">
                <a:latin typeface="Times New Roman"/>
                <a:cs typeface="Times New Roman"/>
              </a:rPr>
              <a:t>2. Application Layer (Backend Services) </a:t>
            </a:r>
            <a:endParaRPr lang="en-IN" b="1"/>
          </a:p>
          <a:p>
            <a:pPr>
              <a:buNone/>
            </a:pPr>
            <a:r>
              <a:rPr lang="en-IN">
                <a:latin typeface="Times New Roman"/>
                <a:cs typeface="Times New Roman"/>
              </a:rPr>
              <a:t>a. Authentication Service</a:t>
            </a:r>
            <a:endParaRPr lang="en-IN">
              <a:cs typeface="Times New Roman"/>
            </a:endParaRPr>
          </a:p>
          <a:p>
            <a:pPr>
              <a:buNone/>
            </a:pPr>
            <a:r>
              <a:rPr lang="en-IN">
                <a:latin typeface="Times New Roman"/>
                <a:cs typeface="Times New Roman"/>
              </a:rPr>
              <a:t>b. Farmer registry Service </a:t>
            </a:r>
            <a:endParaRPr lang="en-IN"/>
          </a:p>
          <a:p>
            <a:pPr>
              <a:buNone/>
            </a:pPr>
            <a:r>
              <a:rPr lang="en-IN">
                <a:latin typeface="Times New Roman"/>
                <a:cs typeface="Times New Roman"/>
              </a:rPr>
              <a:t>c. Inventory &amp; Tracking Service</a:t>
            </a:r>
            <a:endParaRPr lang="en-IN"/>
          </a:p>
          <a:p>
            <a:pPr>
              <a:buNone/>
            </a:pPr>
            <a:r>
              <a:rPr lang="en-IN">
                <a:latin typeface="Times New Roman"/>
                <a:cs typeface="Times New Roman"/>
              </a:rPr>
              <a:t>d. Delivery Verification Service</a:t>
            </a:r>
            <a:endParaRPr lang="en-IN"/>
          </a:p>
          <a:p>
            <a:pPr>
              <a:buNone/>
            </a:pPr>
            <a:r>
              <a:rPr lang="en-IN">
                <a:latin typeface="Times New Roman"/>
                <a:cs typeface="Times New Roman"/>
              </a:rPr>
              <a:t>e. Notification Service</a:t>
            </a:r>
            <a:endParaRPr lang="en-IN"/>
          </a:p>
          <a:p>
            <a:pPr>
              <a:buNone/>
            </a:pPr>
            <a:r>
              <a:rPr lang="en-IN">
                <a:latin typeface="Times New Roman"/>
                <a:cs typeface="Times New Roman"/>
              </a:rPr>
              <a:t>f. Anomaly Detection Engine</a:t>
            </a:r>
            <a:endParaRPr lang="en-IN"/>
          </a:p>
        </p:txBody>
      </p:sp>
      <p:sp>
        <p:nvSpPr>
          <p:cNvPr id="4" name="Footer Placeholder 3">
            <a:extLst>
              <a:ext uri="{FF2B5EF4-FFF2-40B4-BE49-F238E27FC236}">
                <a16:creationId xmlns:a16="http://schemas.microsoft.com/office/drawing/2014/main" id="{78DC09F7-4A06-242C-CA34-E2A2532D64EC}"/>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B4D545C5-2736-5306-F5D1-E2ECC16F8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7779D6B2-D56E-5A53-F6AF-8E2A48A881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A696ED6-F8D2-0D65-B14D-49E6687954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E5562EB9-FCBA-D36E-AE7A-E864EE5BBCB3}"/>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392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CF7076-C39F-32E1-3C13-5EDE68D35C04}"/>
              </a:ext>
            </a:extLst>
          </p:cNvPr>
          <p:cNvSpPr>
            <a:spLocks noGrp="1"/>
          </p:cNvSpPr>
          <p:nvPr>
            <p:ph idx="1"/>
          </p:nvPr>
        </p:nvSpPr>
        <p:spPr>
          <a:xfrm>
            <a:off x="754380" y="1253331"/>
            <a:ext cx="10515600" cy="4351338"/>
          </a:xfrm>
        </p:spPr>
        <p:txBody>
          <a:bodyPr>
            <a:normAutofit lnSpcReduction="10000"/>
          </a:bodyPr>
          <a:lstStyle/>
          <a:p>
            <a:pPr>
              <a:buNone/>
            </a:pPr>
            <a:r>
              <a:rPr lang="en-IN" b="1">
                <a:latin typeface="Times New Roman"/>
                <a:cs typeface="Times New Roman"/>
              </a:rPr>
              <a:t>3. Data Layer</a:t>
            </a:r>
            <a:endParaRPr lang="en-IN" b="1"/>
          </a:p>
          <a:p>
            <a:pPr>
              <a:buNone/>
            </a:pPr>
            <a:r>
              <a:rPr lang="en-IN">
                <a:latin typeface="Times New Roman"/>
                <a:cs typeface="Times New Roman"/>
              </a:rPr>
              <a:t>a. Relational Database (PostgreSQL/MySQL)</a:t>
            </a:r>
            <a:endParaRPr lang="en-IN">
              <a:cs typeface="Times New Roman" panose="02020603050405020304" pitchFamily="18" charset="0"/>
            </a:endParaRPr>
          </a:p>
          <a:p>
            <a:pPr>
              <a:buNone/>
            </a:pPr>
            <a:r>
              <a:rPr lang="en-IN">
                <a:latin typeface="Times New Roman"/>
                <a:cs typeface="Times New Roman"/>
              </a:rPr>
              <a:t>b. Logs &amp; Analytics Storage (</a:t>
            </a:r>
            <a:r>
              <a:rPr lang="en-IN" err="1">
                <a:latin typeface="Times New Roman"/>
                <a:cs typeface="Times New Roman"/>
              </a:rPr>
              <a:t>ElasticSearch</a:t>
            </a:r>
            <a:r>
              <a:rPr lang="en-IN">
                <a:latin typeface="Times New Roman"/>
                <a:cs typeface="Times New Roman"/>
              </a:rPr>
              <a:t>/</a:t>
            </a:r>
            <a:r>
              <a:rPr lang="en-IN" err="1">
                <a:latin typeface="Times New Roman"/>
                <a:cs typeface="Times New Roman"/>
              </a:rPr>
              <a:t>BigQuery</a:t>
            </a:r>
            <a:r>
              <a:rPr lang="en-IN">
                <a:latin typeface="Times New Roman"/>
                <a:cs typeface="Times New Roman"/>
              </a:rPr>
              <a:t>)</a:t>
            </a:r>
            <a:endParaRPr lang="en-IN"/>
          </a:p>
          <a:p>
            <a:pPr>
              <a:buNone/>
            </a:pPr>
            <a:r>
              <a:rPr lang="en-IN">
                <a:latin typeface="Times New Roman"/>
                <a:cs typeface="Times New Roman"/>
              </a:rPr>
              <a:t>c. Optional Blockchain / Immutable Ledger</a:t>
            </a:r>
          </a:p>
          <a:p>
            <a:pPr>
              <a:buNone/>
            </a:pPr>
            <a:endParaRPr lang="en-IN"/>
          </a:p>
          <a:p>
            <a:pPr>
              <a:buNone/>
            </a:pPr>
            <a:r>
              <a:rPr lang="en-IN" b="1">
                <a:latin typeface="Times New Roman"/>
                <a:cs typeface="Times New Roman"/>
              </a:rPr>
              <a:t>4. Integration Layer</a:t>
            </a:r>
            <a:endParaRPr lang="en-IN" b="1"/>
          </a:p>
          <a:p>
            <a:pPr>
              <a:buNone/>
            </a:pPr>
            <a:r>
              <a:rPr lang="en-IN">
                <a:latin typeface="Times New Roman"/>
                <a:cs typeface="Times New Roman"/>
              </a:rPr>
              <a:t>a. QR Code Generator</a:t>
            </a:r>
            <a:endParaRPr lang="en-IN"/>
          </a:p>
          <a:p>
            <a:pPr>
              <a:buNone/>
            </a:pPr>
            <a:r>
              <a:rPr lang="en-IN">
                <a:latin typeface="Times New Roman"/>
                <a:cs typeface="Times New Roman"/>
              </a:rPr>
              <a:t>b. SMS/OTP Gateway</a:t>
            </a:r>
            <a:endParaRPr lang="en-IN"/>
          </a:p>
          <a:p>
            <a:pPr marL="0" indent="0">
              <a:buNone/>
            </a:pPr>
            <a:r>
              <a:rPr lang="en-IN">
                <a:latin typeface="Times New Roman"/>
                <a:cs typeface="Times New Roman"/>
              </a:rPr>
              <a:t>c. GIS / Maps API </a:t>
            </a:r>
            <a:endParaRPr lang="en-US"/>
          </a:p>
          <a:p>
            <a:endParaRPr lang="en-US"/>
          </a:p>
        </p:txBody>
      </p:sp>
      <p:sp>
        <p:nvSpPr>
          <p:cNvPr id="4" name="Footer Placeholder 3">
            <a:extLst>
              <a:ext uri="{FF2B5EF4-FFF2-40B4-BE49-F238E27FC236}">
                <a16:creationId xmlns:a16="http://schemas.microsoft.com/office/drawing/2014/main" id="{0F47CA48-D86C-3F04-1F8F-F45455827AAC}"/>
              </a:ext>
            </a:extLst>
          </p:cNvPr>
          <p:cNvSpPr>
            <a:spLocks noGrp="1"/>
          </p:cNvSpPr>
          <p:nvPr>
            <p:ph type="ftr" sz="quarter" idx="11"/>
          </p:nvPr>
        </p:nvSpPr>
        <p:spPr/>
        <p:txBody>
          <a:bodyPr/>
          <a:lstStyle/>
          <a:p>
            <a:r>
              <a:rPr lang="en-US"/>
              <a:t>8th Mile X Overnight Hackathon</a:t>
            </a:r>
            <a:endParaRPr lang="en-IN"/>
          </a:p>
        </p:txBody>
      </p:sp>
    </p:spTree>
    <p:extLst>
      <p:ext uri="{BB962C8B-B14F-4D97-AF65-F5344CB8AC3E}">
        <p14:creationId xmlns:p14="http://schemas.microsoft.com/office/powerpoint/2010/main" val="2885745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5A8BD-A6DB-C0A3-7240-9026AD6DF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3E4FB-1F96-CD1B-8358-DA55D4EEE48A}"/>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Tech Stack</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4B35DA2D-CD18-2532-459A-A6273727421A}"/>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IN">
                <a:latin typeface="Times New Roman"/>
                <a:cs typeface="Times New Roman"/>
              </a:rPr>
              <a:t>    Frontend</a:t>
            </a:r>
            <a:endParaRPr lang="en-IN">
              <a:latin typeface="Times New Roman"/>
              <a:cs typeface="Times New Roman" panose="02020603050405020304" pitchFamily="18" charset="0"/>
            </a:endParaRPr>
          </a:p>
          <a:p>
            <a:r>
              <a:rPr lang="en-IN">
                <a:cs typeface="Times New Roman"/>
              </a:rPr>
              <a:t>- *HTML5, CSS3* – UI layout and styling  </a:t>
            </a:r>
            <a:endParaRPr lang="en-IN"/>
          </a:p>
          <a:p>
            <a:r>
              <a:rPr lang="en-IN">
                <a:cs typeface="Times New Roman"/>
              </a:rPr>
              <a:t>- *Vanilla JavaScript (Fetch API)* – Sending CSV file to backend, rendering results  </a:t>
            </a:r>
            <a:endParaRPr lang="en-IN"/>
          </a:p>
          <a:p>
            <a:r>
              <a:rPr lang="en-IN">
                <a:latin typeface="Times New Roman"/>
                <a:cs typeface="Times New Roman"/>
              </a:rPr>
              <a:t>- Custom tables for listing suspicious dealers &amp; farmer anomalies  </a:t>
            </a:r>
            <a:endParaRPr lang="en-IN">
              <a:latin typeface="Times New Roman"/>
            </a:endParaRPr>
          </a:p>
          <a:p>
            <a:endParaRPr lang="en-IN">
              <a:latin typeface="Times New Roman"/>
              <a:cs typeface="Times New Roman"/>
            </a:endParaRPr>
          </a:p>
          <a:p>
            <a:pPr marL="0" indent="0">
              <a:buNone/>
            </a:pPr>
            <a:r>
              <a:rPr lang="en-IN">
                <a:latin typeface="Times New Roman"/>
                <a:cs typeface="Times New Roman"/>
              </a:rPr>
              <a:t>    Backend</a:t>
            </a:r>
          </a:p>
          <a:p>
            <a:r>
              <a:rPr lang="en-IN">
                <a:latin typeface="Times New Roman"/>
                <a:cs typeface="Times New Roman"/>
              </a:rPr>
              <a:t>- *Python* – Core data processing  </a:t>
            </a:r>
            <a:endParaRPr lang="en-IN">
              <a:latin typeface="Times New Roman"/>
            </a:endParaRPr>
          </a:p>
          <a:p>
            <a:r>
              <a:rPr lang="en-IN">
                <a:latin typeface="Times New Roman"/>
                <a:cs typeface="Times New Roman"/>
              </a:rPr>
              <a:t>- *Flask* – REST API for /</a:t>
            </a:r>
            <a:r>
              <a:rPr lang="en-IN" err="1">
                <a:latin typeface="Times New Roman"/>
                <a:cs typeface="Times New Roman"/>
              </a:rPr>
              <a:t>analyze</a:t>
            </a:r>
            <a:r>
              <a:rPr lang="en-IN">
                <a:latin typeface="Times New Roman"/>
                <a:cs typeface="Times New Roman"/>
              </a:rPr>
              <a:t> endpoint  </a:t>
            </a:r>
            <a:endParaRPr lang="en-IN">
              <a:latin typeface="Times New Roman"/>
            </a:endParaRPr>
          </a:p>
          <a:p>
            <a:r>
              <a:rPr lang="en-IN">
                <a:latin typeface="Times New Roman"/>
                <a:cs typeface="Times New Roman"/>
              </a:rPr>
              <a:t>- *Pandas, NumPy* – Data cleaning, aggregation, anomaly metrics </a:t>
            </a:r>
            <a:endParaRPr lang="en-IN">
              <a:latin typeface="Times New Roman"/>
              <a:cs typeface="Times New Roman" panose="02020603050405020304" pitchFamily="18" charset="0"/>
            </a:endParaRPr>
          </a:p>
          <a:p>
            <a:endParaRPr lang="en-IN">
              <a:cs typeface="Times New Roman"/>
            </a:endParaRPr>
          </a:p>
          <a:p>
            <a:pPr marL="0" indent="0">
              <a:buNone/>
            </a:pPr>
            <a:r>
              <a:rPr lang="en-IN">
                <a:latin typeface="Times New Roman"/>
                <a:cs typeface="Times New Roman"/>
              </a:rPr>
              <a:t>    (Optional Extensions)</a:t>
            </a:r>
            <a:endParaRPr lang="en-IN">
              <a:cs typeface="Times New Roman" panose="02020603050405020304" pitchFamily="18" charset="0"/>
            </a:endParaRPr>
          </a:p>
          <a:p>
            <a:r>
              <a:rPr lang="en-IN">
                <a:latin typeface="Times New Roman"/>
                <a:cs typeface="Times New Roman"/>
              </a:rPr>
              <a:t>- *Scikit‑learn* – Advanced anomaly detection  </a:t>
            </a:r>
            <a:endParaRPr lang="en-IN">
              <a:latin typeface="Times New Roman"/>
            </a:endParaRPr>
          </a:p>
          <a:p>
            <a:r>
              <a:rPr lang="en-IN">
                <a:latin typeface="Times New Roman"/>
                <a:cs typeface="Times New Roman"/>
              </a:rPr>
              <a:t>- *</a:t>
            </a:r>
            <a:r>
              <a:rPr lang="en-IN" err="1">
                <a:latin typeface="Times New Roman"/>
                <a:cs typeface="Times New Roman"/>
              </a:rPr>
              <a:t>ReportLab</a:t>
            </a:r>
            <a:r>
              <a:rPr lang="en-IN">
                <a:latin typeface="Times New Roman"/>
                <a:cs typeface="Times New Roman"/>
              </a:rPr>
              <a:t> / </a:t>
            </a:r>
            <a:r>
              <a:rPr lang="en-IN" err="1">
                <a:latin typeface="Times New Roman"/>
                <a:cs typeface="Times New Roman"/>
              </a:rPr>
              <a:t>pdfkit</a:t>
            </a:r>
            <a:r>
              <a:rPr lang="en-IN">
                <a:latin typeface="Times New Roman"/>
                <a:cs typeface="Times New Roman"/>
              </a:rPr>
              <a:t>* – Auto‑generated PDF fraud reports  </a:t>
            </a:r>
            <a:endParaRPr lang="en-IN">
              <a:latin typeface="Times New Roman"/>
            </a:endParaRPr>
          </a:p>
          <a:p>
            <a:r>
              <a:rPr lang="en-IN">
                <a:latin typeface="Times New Roman"/>
                <a:cs typeface="Times New Roman"/>
              </a:rPr>
              <a:t>- *</a:t>
            </a:r>
            <a:r>
              <a:rPr lang="en-IN" err="1">
                <a:latin typeface="Times New Roman"/>
                <a:cs typeface="Times New Roman"/>
              </a:rPr>
              <a:t>Plotly</a:t>
            </a:r>
            <a:r>
              <a:rPr lang="en-IN">
                <a:latin typeface="Times New Roman"/>
                <a:cs typeface="Times New Roman"/>
              </a:rPr>
              <a:t> / Matplotlib* – Visual charts for insights  </a:t>
            </a:r>
            <a:endParaRPr lang="en-IN">
              <a:latin typeface="Times New Roman"/>
            </a:endParaRPr>
          </a:p>
          <a:p>
            <a:endParaRPr lang="en-IN">
              <a:cs typeface="Times New Roman"/>
            </a:endParaRPr>
          </a:p>
        </p:txBody>
      </p:sp>
      <p:sp>
        <p:nvSpPr>
          <p:cNvPr id="4" name="Footer Placeholder 3">
            <a:extLst>
              <a:ext uri="{FF2B5EF4-FFF2-40B4-BE49-F238E27FC236}">
                <a16:creationId xmlns:a16="http://schemas.microsoft.com/office/drawing/2014/main" id="{71EB026B-73F6-2B93-1AE5-C0278CF19440}"/>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A5696FF0-45CD-49ED-9DE4-BAD88486C1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54C0E578-EAFC-0379-2FD3-6A5836BDC7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F64925B-8E60-5270-DB2E-EF39F9639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91561A5E-C8DB-E390-CCA2-68B9974C0B4C}"/>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82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BECF2-EEA9-FF06-35BA-7A331984B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C6598-E773-1823-49CE-8650DDEA5989}"/>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Challenges Faced</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24C91DF0-89E9-76B9-AD6A-DB306A119394}"/>
              </a:ext>
            </a:extLst>
          </p:cNvPr>
          <p:cNvSpPr>
            <a:spLocks noGrp="1"/>
          </p:cNvSpPr>
          <p:nvPr>
            <p:ph idx="1"/>
          </p:nvPr>
        </p:nvSpPr>
        <p:spPr/>
        <p:txBody>
          <a:bodyPr vert="horz" lIns="91440" tIns="45720" rIns="91440" bIns="45720" rtlCol="0" anchor="t">
            <a:noAutofit/>
          </a:bodyPr>
          <a:lstStyle/>
          <a:p>
            <a:pPr lvl="1"/>
            <a:r>
              <a:rPr lang="en-IN" sz="1600">
                <a:latin typeface="Times New Roman"/>
                <a:cs typeface="Times New Roman"/>
              </a:rPr>
              <a:t>Lack of real‑time data from field dealers and farmers</a:t>
            </a:r>
            <a:endParaRPr lang="en-IN" sz="1600">
              <a:latin typeface="Times New Roman"/>
              <a:cs typeface="Times New Roman" panose="02020603050405020304" pitchFamily="18" charset="0"/>
            </a:endParaRPr>
          </a:p>
          <a:p>
            <a:r>
              <a:rPr lang="en-IN" sz="2000">
                <a:latin typeface="Times New Roman"/>
                <a:cs typeface="Times New Roman"/>
              </a:rPr>
              <a:t>→ Hard to validate whether deliveries are genuinely happening.</a:t>
            </a:r>
          </a:p>
          <a:p>
            <a:endParaRPr lang="en-IN" sz="2000">
              <a:cs typeface="Times New Roman"/>
            </a:endParaRPr>
          </a:p>
          <a:p>
            <a:r>
              <a:rPr lang="en-IN" sz="2000">
                <a:latin typeface="Times New Roman"/>
                <a:cs typeface="Times New Roman"/>
              </a:rPr>
              <a:t>Difficulty in verifying genuine farmers vs ghost beneficiaries</a:t>
            </a:r>
          </a:p>
          <a:p>
            <a:r>
              <a:rPr lang="en-IN" sz="2000">
                <a:latin typeface="Times New Roman"/>
                <a:cs typeface="Times New Roman"/>
              </a:rPr>
              <a:t>→ No single accurate farmer identity source across regions.</a:t>
            </a:r>
          </a:p>
          <a:p>
            <a:endParaRPr lang="en-IN" sz="2000">
              <a:cs typeface="Times New Roman"/>
            </a:endParaRPr>
          </a:p>
          <a:p>
            <a:r>
              <a:rPr lang="en-IN" sz="2000">
                <a:latin typeface="Times New Roman"/>
                <a:cs typeface="Times New Roman"/>
              </a:rPr>
              <a:t>Detecting diversion / fraud patterns is complex</a:t>
            </a:r>
          </a:p>
          <a:p>
            <a:r>
              <a:rPr lang="en-IN" sz="2000">
                <a:latin typeface="Times New Roman"/>
                <a:cs typeface="Times New Roman"/>
              </a:rPr>
              <a:t>→ Requires linking multiple data points (location, time, dealer activity).</a:t>
            </a:r>
          </a:p>
          <a:p>
            <a:endParaRPr lang="en-IN" sz="2000">
              <a:cs typeface="Times New Roman"/>
            </a:endParaRPr>
          </a:p>
          <a:p>
            <a:r>
              <a:rPr lang="en-IN" sz="2000">
                <a:latin typeface="Times New Roman"/>
                <a:cs typeface="Times New Roman"/>
              </a:rPr>
              <a:t>Mapping subsidy movement across multiple intermediaries</a:t>
            </a:r>
          </a:p>
          <a:p>
            <a:r>
              <a:rPr lang="en-IN" sz="2000">
                <a:latin typeface="Times New Roman"/>
                <a:cs typeface="Times New Roman"/>
              </a:rPr>
              <a:t>→ Manufacturer → Depot → Dealer → Farmer involves many checkpoints.</a:t>
            </a:r>
          </a:p>
          <a:p>
            <a:endParaRPr lang="en-IN" sz="2000">
              <a:latin typeface="Times New Roman"/>
              <a:cs typeface="Times New Roman"/>
            </a:endParaRPr>
          </a:p>
        </p:txBody>
      </p:sp>
      <p:sp>
        <p:nvSpPr>
          <p:cNvPr id="4" name="Footer Placeholder 3">
            <a:extLst>
              <a:ext uri="{FF2B5EF4-FFF2-40B4-BE49-F238E27FC236}">
                <a16:creationId xmlns:a16="http://schemas.microsoft.com/office/drawing/2014/main" id="{0E3562F1-842D-8BCE-F1A6-124D3C7CD3F7}"/>
              </a:ext>
            </a:extLst>
          </p:cNvPr>
          <p:cNvSpPr>
            <a:spLocks noGrp="1"/>
          </p:cNvSpPr>
          <p:nvPr>
            <p:ph type="ftr" sz="quarter" idx="11"/>
          </p:nvPr>
        </p:nvSpPr>
        <p:spPr>
          <a:xfrm>
            <a:off x="4380948" y="6323220"/>
            <a:ext cx="4114800" cy="365125"/>
          </a:xfrm>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24B853AD-4104-6B2E-2C5B-295E6A93A7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456F6264-AF4A-3512-C2D7-84A3F33B4E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F024DA5-ACD1-028E-9F83-5BB2D71557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60E6F8D1-18CF-0F86-F72D-E51E124D4EA8}"/>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587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E6F3-080C-FD33-E8A5-B2E156636A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7932A5-9D54-8971-AAB4-A36C9BFB3D3C}"/>
              </a:ext>
            </a:extLst>
          </p:cNvPr>
          <p:cNvSpPr>
            <a:spLocks noGrp="1"/>
          </p:cNvSpPr>
          <p:nvPr>
            <p:ph idx="1"/>
          </p:nvPr>
        </p:nvSpPr>
        <p:spPr/>
        <p:txBody>
          <a:bodyPr vert="horz" lIns="91440" tIns="45720" rIns="91440" bIns="45720" rtlCol="0" anchor="t">
            <a:normAutofit/>
          </a:bodyPr>
          <a:lstStyle/>
          <a:p>
            <a:r>
              <a:rPr lang="en-IN" sz="2000">
                <a:latin typeface="Times New Roman"/>
                <a:cs typeface="Times New Roman"/>
              </a:rPr>
              <a:t>Limited technical exposure among rural dealers/farmers</a:t>
            </a:r>
          </a:p>
          <a:p>
            <a:r>
              <a:rPr lang="en-IN" sz="2000">
                <a:latin typeface="Times New Roman"/>
                <a:cs typeface="Times New Roman"/>
              </a:rPr>
              <a:t>→ Solutions must be extremely simple to use (QR scan + OTP confirmation).</a:t>
            </a:r>
          </a:p>
          <a:p>
            <a:endParaRPr lang="en-IN" sz="2000">
              <a:cs typeface="Times New Roman"/>
            </a:endParaRPr>
          </a:p>
          <a:p>
            <a:r>
              <a:rPr lang="en-IN" sz="2000">
                <a:latin typeface="Times New Roman"/>
                <a:cs typeface="Times New Roman"/>
              </a:rPr>
              <a:t>Unreliable network connectivity in rural areas</a:t>
            </a:r>
          </a:p>
          <a:p>
            <a:r>
              <a:rPr lang="en-IN" sz="2000">
                <a:latin typeface="Times New Roman"/>
                <a:cs typeface="Times New Roman"/>
              </a:rPr>
              <a:t>→ System must work offline first and sync later.</a:t>
            </a:r>
          </a:p>
          <a:p>
            <a:endParaRPr lang="en-IN" sz="2000">
              <a:cs typeface="Times New Roman"/>
            </a:endParaRPr>
          </a:p>
          <a:p>
            <a:r>
              <a:rPr lang="en-IN" sz="2000">
                <a:latin typeface="Times New Roman"/>
                <a:cs typeface="Times New Roman"/>
              </a:rPr>
              <a:t>Maintaining transparency without violating data privacy</a:t>
            </a:r>
          </a:p>
          <a:p>
            <a:r>
              <a:rPr lang="en-IN" sz="2000">
                <a:latin typeface="Times New Roman"/>
                <a:cs typeface="Times New Roman"/>
              </a:rPr>
              <a:t>→ Aadhaar / location data must be handled securely and ethically.</a:t>
            </a:r>
          </a:p>
          <a:p>
            <a:endParaRPr lang="en-IN" sz="2000">
              <a:cs typeface="Times New Roman"/>
            </a:endParaRPr>
          </a:p>
          <a:p>
            <a:r>
              <a:rPr lang="en-IN" sz="2000">
                <a:latin typeface="Times New Roman"/>
                <a:cs typeface="Times New Roman"/>
              </a:rPr>
              <a:t>Integrating multiple components during development</a:t>
            </a:r>
          </a:p>
          <a:p>
            <a:endParaRPr lang="en-US">
              <a:cs typeface="Times New Roman"/>
            </a:endParaRPr>
          </a:p>
        </p:txBody>
      </p:sp>
      <p:sp>
        <p:nvSpPr>
          <p:cNvPr id="4" name="Footer Placeholder 3">
            <a:extLst>
              <a:ext uri="{FF2B5EF4-FFF2-40B4-BE49-F238E27FC236}">
                <a16:creationId xmlns:a16="http://schemas.microsoft.com/office/drawing/2014/main" id="{3AC1A29C-E1D1-F8B9-A6BD-190F8615B302}"/>
              </a:ext>
            </a:extLst>
          </p:cNvPr>
          <p:cNvSpPr>
            <a:spLocks noGrp="1"/>
          </p:cNvSpPr>
          <p:nvPr>
            <p:ph type="ftr" sz="quarter" idx="11"/>
          </p:nvPr>
        </p:nvSpPr>
        <p:spPr/>
        <p:txBody>
          <a:bodyPr/>
          <a:lstStyle/>
          <a:p>
            <a:r>
              <a:rPr lang="en-US"/>
              <a:t>8th Mile X Overnight Hackathon</a:t>
            </a:r>
            <a:endParaRPr lang="en-IN"/>
          </a:p>
        </p:txBody>
      </p:sp>
    </p:spTree>
    <p:extLst>
      <p:ext uri="{BB962C8B-B14F-4D97-AF65-F5344CB8AC3E}">
        <p14:creationId xmlns:p14="http://schemas.microsoft.com/office/powerpoint/2010/main" val="890010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B1502-06F5-81D3-0334-6C386507C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E5D65-90C6-4F6A-6DA3-20D7ECCB9C5B}"/>
              </a:ext>
            </a:extLst>
          </p:cNvPr>
          <p:cNvSpPr>
            <a:spLocks noGrp="1"/>
          </p:cNvSpPr>
          <p:nvPr>
            <p:ph type="title"/>
          </p:nvPr>
        </p:nvSpPr>
        <p:spPr/>
        <p:txBody>
          <a:bodyPr/>
          <a:lstStyle/>
          <a:p>
            <a:pPr algn="ctr"/>
            <a:r>
              <a:rPr lang="en-US">
                <a:solidFill>
                  <a:srgbClr val="FFFF00"/>
                </a:solidFill>
                <a:latin typeface="Berlin Sans FB Demi" panose="020E0802020502020306" pitchFamily="34" charset="0"/>
              </a:rPr>
              <a:t>Future Scope</a:t>
            </a:r>
            <a:endParaRPr lang="en-IN">
              <a:solidFill>
                <a:srgbClr val="FFFF00"/>
              </a:solidFill>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74497A97-2B9D-9814-8CD8-A39480F6EF2B}"/>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IN">
                <a:cs typeface="Times New Roman"/>
              </a:rPr>
              <a:t>Unified Farmer Digital Wallet</a:t>
            </a:r>
            <a:endParaRPr lang="en-IN">
              <a:cs typeface="Times New Roman" panose="02020603050405020304" pitchFamily="18" charset="0"/>
            </a:endParaRPr>
          </a:p>
          <a:p>
            <a:pPr marL="0" indent="0">
              <a:buNone/>
            </a:pPr>
            <a:r>
              <a:rPr lang="en-IN">
                <a:latin typeface="Times New Roman"/>
                <a:cs typeface="Times New Roman"/>
              </a:rPr>
              <a:t>    •    One digital wallet for: </a:t>
            </a:r>
            <a:endParaRPr lang="en-IN">
              <a:latin typeface="Times New Roman"/>
              <a:cs typeface="Times New Roman" panose="02020603050405020304" pitchFamily="18" charset="0"/>
            </a:endParaRPr>
          </a:p>
          <a:p>
            <a:pPr marL="0" indent="0">
              <a:buNone/>
            </a:pPr>
            <a:r>
              <a:rPr lang="en-IN">
                <a:latin typeface="Times New Roman"/>
                <a:cs typeface="Times New Roman"/>
              </a:rPr>
              <a:t>    •    Receiving subsidies</a:t>
            </a:r>
            <a:endParaRPr lang="en-IN">
              <a:latin typeface="Times New Roman"/>
              <a:cs typeface="Times New Roman" panose="02020603050405020304" pitchFamily="18" charset="0"/>
            </a:endParaRPr>
          </a:p>
          <a:p>
            <a:pPr marL="0" indent="0">
              <a:buNone/>
            </a:pPr>
            <a:r>
              <a:rPr lang="en-IN">
                <a:cs typeface="Times New Roman"/>
              </a:rPr>
              <a:t>    •    Buying seeds, fertilizers, equipment</a:t>
            </a:r>
            <a:endParaRPr lang="en-IN">
              <a:cs typeface="Times New Roman" panose="02020603050405020304" pitchFamily="18" charset="0"/>
            </a:endParaRPr>
          </a:p>
          <a:p>
            <a:pPr marL="0" indent="0">
              <a:buNone/>
            </a:pPr>
            <a:r>
              <a:rPr lang="en-IN">
                <a:cs typeface="Times New Roman"/>
              </a:rPr>
              <a:t>    •    Tracking past purchases</a:t>
            </a:r>
            <a:endParaRPr lang="en-IN">
              <a:cs typeface="Times New Roman" panose="02020603050405020304" pitchFamily="18" charset="0"/>
            </a:endParaRPr>
          </a:p>
          <a:p>
            <a:pPr marL="0" indent="0">
              <a:buNone/>
            </a:pPr>
            <a:r>
              <a:rPr lang="en-IN">
                <a:cs typeface="Times New Roman"/>
              </a:rPr>
              <a:t>    •    Eliminates cash leakages completely.</a:t>
            </a:r>
          </a:p>
          <a:p>
            <a:pPr>
              <a:buNone/>
            </a:pPr>
            <a:r>
              <a:rPr lang="en-IN">
                <a:cs typeface="Times New Roman" panose="02020603050405020304" pitchFamily="18" charset="0"/>
              </a:rPr>
              <a:t>Integration with Agri-Market Price Forecasting Tools</a:t>
            </a:r>
            <a:endParaRPr lang="en-IN"/>
          </a:p>
          <a:p>
            <a:pPr>
              <a:buNone/>
            </a:pPr>
            <a:r>
              <a:rPr lang="en-IN">
                <a:latin typeface="Times New Roman"/>
                <a:cs typeface="Times New Roman"/>
              </a:rPr>
              <a:t>    •    Suggest best purchasing times for farmers.</a:t>
            </a:r>
          </a:p>
          <a:p>
            <a:pPr marL="0" indent="0">
              <a:buNone/>
            </a:pPr>
            <a:r>
              <a:rPr lang="en-IN">
                <a:latin typeface="Times New Roman"/>
                <a:cs typeface="Times New Roman"/>
              </a:rPr>
              <a:t>    •    Prevent black-market pricing and artificial shortages controlled by dealers.</a:t>
            </a:r>
          </a:p>
        </p:txBody>
      </p:sp>
      <p:sp>
        <p:nvSpPr>
          <p:cNvPr id="4" name="Footer Placeholder 3">
            <a:extLst>
              <a:ext uri="{FF2B5EF4-FFF2-40B4-BE49-F238E27FC236}">
                <a16:creationId xmlns:a16="http://schemas.microsoft.com/office/drawing/2014/main" id="{5FFC6248-3965-7E7B-7F81-64DE9BFF3A11}"/>
              </a:ext>
            </a:extLst>
          </p:cNvPr>
          <p:cNvSpPr>
            <a:spLocks noGrp="1"/>
          </p:cNvSpPr>
          <p:nvPr>
            <p:ph type="ftr" sz="quarter" idx="11"/>
          </p:nvPr>
        </p:nvSpPr>
        <p:spPr/>
        <p:txBody>
          <a:bodyPr/>
          <a:lstStyle/>
          <a:p>
            <a:r>
              <a:rPr lang="en-US"/>
              <a:t>8th Mile X Overnight Hackathon</a:t>
            </a:r>
            <a:endParaRPr lang="en-IN"/>
          </a:p>
        </p:txBody>
      </p:sp>
      <p:pic>
        <p:nvPicPr>
          <p:cNvPr id="7" name="Picture 6">
            <a:extLst>
              <a:ext uri="{FF2B5EF4-FFF2-40B4-BE49-F238E27FC236}">
                <a16:creationId xmlns:a16="http://schemas.microsoft.com/office/drawing/2014/main" id="{EE6413DC-DB42-F3F0-AD4D-B9A69A5210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95" y="250833"/>
            <a:ext cx="1706952" cy="733330"/>
          </a:xfrm>
          <a:prstGeom prst="rect">
            <a:avLst/>
          </a:prstGeom>
        </p:spPr>
      </p:pic>
      <p:pic>
        <p:nvPicPr>
          <p:cNvPr id="8" name="Picture 2" descr="Coding Club RVCE - YouTube">
            <a:extLst>
              <a:ext uri="{FF2B5EF4-FFF2-40B4-BE49-F238E27FC236}">
                <a16:creationId xmlns:a16="http://schemas.microsoft.com/office/drawing/2014/main" id="{F71F99BF-E0D5-BFCF-C6FA-76011D4D34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821334" y="128910"/>
            <a:ext cx="1226845" cy="10139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68FCD37-5D69-195B-0DEA-496CA5E697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5838" y="128910"/>
            <a:ext cx="898996" cy="898996"/>
          </a:xfrm>
          <a:prstGeom prst="rect">
            <a:avLst/>
          </a:prstGeom>
        </p:spPr>
      </p:pic>
      <p:cxnSp>
        <p:nvCxnSpPr>
          <p:cNvPr id="10" name="Straight Connector 9">
            <a:extLst>
              <a:ext uri="{FF2B5EF4-FFF2-40B4-BE49-F238E27FC236}">
                <a16:creationId xmlns:a16="http://schemas.microsoft.com/office/drawing/2014/main" id="{10651AEE-733E-F71A-C05E-F0B8E405A9C9}"/>
              </a:ext>
            </a:extLst>
          </p:cNvPr>
          <p:cNvCxnSpPr>
            <a:cxnSpLocks/>
          </p:cNvCxnSpPr>
          <p:nvPr/>
        </p:nvCxnSpPr>
        <p:spPr>
          <a:xfrm>
            <a:off x="11205791" y="244034"/>
            <a:ext cx="0" cy="7469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4960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FA20-81FB-1208-323B-9D75E7014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2CAD1-A3E2-6F90-F026-AF124437AFF8}"/>
              </a:ext>
            </a:extLst>
          </p:cNvPr>
          <p:cNvSpPr>
            <a:spLocks noGrp="1"/>
          </p:cNvSpPr>
          <p:nvPr>
            <p:ph type="title"/>
          </p:nvPr>
        </p:nvSpPr>
        <p:spPr>
          <a:xfrm>
            <a:off x="838200" y="2766218"/>
            <a:ext cx="10515600" cy="1325563"/>
          </a:xfrm>
        </p:spPr>
        <p:txBody>
          <a:bodyPr>
            <a:normAutofit/>
          </a:bodyPr>
          <a:lstStyle/>
          <a:p>
            <a:pPr algn="ctr"/>
            <a:r>
              <a:rPr lang="en-US" sz="7000">
                <a:solidFill>
                  <a:srgbClr val="FFFF00"/>
                </a:solidFill>
                <a:latin typeface="Berlin Sans FB Demi" panose="020E0802020502020306" pitchFamily="34" charset="0"/>
              </a:rPr>
              <a:t>Thank You</a:t>
            </a:r>
            <a:endParaRPr lang="en-IN" sz="7000">
              <a:solidFill>
                <a:srgbClr val="FFFF00"/>
              </a:solidFill>
              <a:latin typeface="Berlin Sans FB Demi" panose="020E0802020502020306" pitchFamily="34" charset="0"/>
            </a:endParaRPr>
          </a:p>
        </p:txBody>
      </p:sp>
      <p:sp>
        <p:nvSpPr>
          <p:cNvPr id="6" name="Footer Placeholder 5">
            <a:extLst>
              <a:ext uri="{FF2B5EF4-FFF2-40B4-BE49-F238E27FC236}">
                <a16:creationId xmlns:a16="http://schemas.microsoft.com/office/drawing/2014/main" id="{74517AF0-97CC-2401-0587-8ED61B46F4B5}"/>
              </a:ext>
            </a:extLst>
          </p:cNvPr>
          <p:cNvSpPr>
            <a:spLocks noGrp="1"/>
          </p:cNvSpPr>
          <p:nvPr>
            <p:ph type="ftr" sz="quarter" idx="11"/>
          </p:nvPr>
        </p:nvSpPr>
        <p:spPr/>
        <p:txBody>
          <a:bodyPr/>
          <a:lstStyle/>
          <a:p>
            <a:r>
              <a:rPr lang="en-US"/>
              <a:t>8th Mile X Overnight Hackathon</a:t>
            </a:r>
            <a:endParaRPr lang="en-IN"/>
          </a:p>
        </p:txBody>
      </p:sp>
      <p:pic>
        <p:nvPicPr>
          <p:cNvPr id="3" name="Picture 2">
            <a:extLst>
              <a:ext uri="{FF2B5EF4-FFF2-40B4-BE49-F238E27FC236}">
                <a16:creationId xmlns:a16="http://schemas.microsoft.com/office/drawing/2014/main" id="{F1ADFA85-6F77-6625-74E5-2DC55BE05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817" y="310556"/>
            <a:ext cx="2305893" cy="990644"/>
          </a:xfrm>
          <a:prstGeom prst="rect">
            <a:avLst/>
          </a:prstGeom>
        </p:spPr>
      </p:pic>
      <p:pic>
        <p:nvPicPr>
          <p:cNvPr id="7" name="Picture 2" descr="Coding Club RVCE - YouTube">
            <a:extLst>
              <a:ext uri="{FF2B5EF4-FFF2-40B4-BE49-F238E27FC236}">
                <a16:creationId xmlns:a16="http://schemas.microsoft.com/office/drawing/2014/main" id="{BB85B39C-23BD-6A71-6759-A81C3A50CF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994" t="18800" r="10717" b="16497"/>
          <a:stretch>
            <a:fillRect/>
          </a:stretch>
        </p:blipFill>
        <p:spPr bwMode="auto">
          <a:xfrm>
            <a:off x="9217663" y="182181"/>
            <a:ext cx="1611544" cy="13319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A78185F-E472-BCE4-EF12-A430DDC6DA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7045" y="182181"/>
            <a:ext cx="1119019" cy="1119019"/>
          </a:xfrm>
          <a:prstGeom prst="rect">
            <a:avLst/>
          </a:prstGeom>
        </p:spPr>
      </p:pic>
      <p:cxnSp>
        <p:nvCxnSpPr>
          <p:cNvPr id="9" name="Straight Connector 8">
            <a:extLst>
              <a:ext uri="{FF2B5EF4-FFF2-40B4-BE49-F238E27FC236}">
                <a16:creationId xmlns:a16="http://schemas.microsoft.com/office/drawing/2014/main" id="{C8664BFC-8FC8-D2D4-8C23-95D0A94958B8}"/>
              </a:ext>
            </a:extLst>
          </p:cNvPr>
          <p:cNvCxnSpPr>
            <a:cxnSpLocks/>
          </p:cNvCxnSpPr>
          <p:nvPr/>
        </p:nvCxnSpPr>
        <p:spPr>
          <a:xfrm>
            <a:off x="10947002" y="310556"/>
            <a:ext cx="0" cy="92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0312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848</Words>
  <Application>Microsoft Office PowerPoint</Application>
  <PresentationFormat>Widescreen</PresentationFormat>
  <Paragraphs>112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Berlin Sans FB Demi</vt:lpstr>
      <vt:lpstr>Calibri Light</vt:lpstr>
      <vt:lpstr>Times New Roman</vt:lpstr>
      <vt:lpstr>Office Theme</vt:lpstr>
      <vt:lpstr>Team Name: R2S2</vt:lpstr>
      <vt:lpstr>Problem Statement</vt:lpstr>
      <vt:lpstr>Proposed Solution</vt:lpstr>
      <vt:lpstr>Key Features</vt:lpstr>
      <vt:lpstr>PowerPoint Presentation</vt:lpstr>
      <vt:lpstr>System Architecture</vt:lpstr>
      <vt:lpstr>PowerPoint Presentation</vt:lpstr>
      <vt:lpstr>Tech Stack</vt:lpstr>
      <vt:lpstr>Challenges Faced</vt:lpstr>
      <vt:lpstr>PowerPoint Presentation</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Raghavendra Prasad B M</dc:creator>
  <cp:lastModifiedBy>Suhani Patel</cp:lastModifiedBy>
  <cp:revision>1</cp:revision>
  <dcterms:created xsi:type="dcterms:W3CDTF">2025-12-01T05:54:45Z</dcterms:created>
  <dcterms:modified xsi:type="dcterms:W3CDTF">2025-12-04T21:59:23Z</dcterms:modified>
</cp:coreProperties>
</file>